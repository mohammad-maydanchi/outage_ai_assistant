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wav" ContentType="audio/x-wav"/>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wav"/><Relationship Id="rId3" Type="http://schemas.openxmlformats.org/officeDocument/2006/relationships/video" Target="../media/media1.wav"/><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822960" y="2286000"/>
            <a:ext cx="10515600" cy="2377440"/>
          </a:xfrm>
          <a:prstGeom prst="rect">
            <a:avLst/>
          </a:prstGeom>
          <a:noFill/>
        </p:spPr>
        <p:txBody>
          <a:bodyPr wrap="square">
            <a:spAutoFit/>
          </a:bodyPr>
          <a:lstStyle/>
          <a:p>
            <a:pPr algn="l">
              <a:spcAft>
                <a:spcPts val="600"/>
              </a:spcAft>
            </a:pPr>
            <a:r>
              <a:rPr sz="5400" b="1">
                <a:solidFill>
                  <a:srgbClr val="E7ECF5"/>
                </a:solidFill>
              </a:rPr>
              <a:t>Vivant </a:t>
            </a:r>
            <a:r>
              <a:rPr sz="5400" b="1">
                <a:solidFill>
                  <a:srgbClr val="F0A83C"/>
                </a:solidFill>
              </a:rPr>
              <a:t>Downtime Check</a:t>
            </a:r>
          </a:p>
          <a:p>
            <a:pPr algn="l">
              <a:spcAft>
                <a:spcPts val="1800"/>
              </a:spcAft>
            </a:pPr>
            <a:r>
              <a:rPr sz="2600" b="0">
                <a:solidFill>
                  <a:srgbClr val="E7ECF5"/>
                </a:solidFill>
              </a:rPr>
              <a:t>Outbound AI Voice Agent for ISP Outages</a:t>
            </a:r>
          </a:p>
          <a:p>
            <a:pPr algn="l">
              <a:spcAft>
                <a:spcPts val="800"/>
              </a:spcAft>
            </a:pPr>
            <a:r>
              <a:rPr sz="1800" b="0">
                <a:solidFill>
                  <a:srgbClr val="9AA6BC"/>
                </a:solidFill>
              </a:rPr>
              <a:t>An AI agent that calls the ISP, navigates the phone system, and returns a clean, structured outage report — unattended.</a:t>
            </a:r>
          </a:p>
        </p:txBody>
      </p:sp>
      <p:sp>
        <p:nvSpPr>
          <p:cNvPr id="3" name="TextBox 2"/>
          <p:cNvSpPr txBox="1"/>
          <p:nvPr/>
        </p:nvSpPr>
        <p:spPr>
          <a:xfrm>
            <a:off x="822960" y="5852160"/>
            <a:ext cx="10515600" cy="548640"/>
          </a:xfrm>
          <a:prstGeom prst="rect">
            <a:avLst/>
          </a:prstGeom>
          <a:noFill/>
        </p:spPr>
        <p:txBody>
          <a:bodyPr wrap="square">
            <a:spAutoFit/>
          </a:bodyPr>
          <a:lstStyle/>
          <a:p>
            <a:pPr algn="l">
              <a:spcAft>
                <a:spcPts val="800"/>
              </a:spcAft>
            </a:pPr>
            <a:r>
              <a:rPr sz="1400" b="0">
                <a:solidFill>
                  <a:srgbClr val="9AA6BC"/>
                </a:solidFill>
              </a:rPr>
              <a:t>Proof-of-concept demo  ·  50 automated tests  ·  proven on live calls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WHY THIS EXISTS</a:t>
            </a:r>
          </a:p>
          <a:p>
            <a:pPr algn="l">
              <a:spcAft>
                <a:spcPts val="800"/>
              </a:spcAft>
            </a:pPr>
            <a:r>
              <a:rPr sz="3200" b="1">
                <a:solidFill>
                  <a:srgbClr val="E7ECF5"/>
                </a:solidFill>
              </a:rPr>
              <a:t>The problem</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0607040" cy="4114800"/>
          </a:xfrm>
          <a:prstGeom prst="rect">
            <a:avLst/>
          </a:prstGeom>
          <a:noFill/>
        </p:spPr>
        <p:txBody>
          <a:bodyPr wrap="square">
            <a:spAutoFit/>
          </a:bodyPr>
          <a:lstStyle/>
          <a:p/>
          <a:p>
            <a:pPr algn="l">
              <a:spcAft>
                <a:spcPts val="1400"/>
              </a:spcAft>
            </a:pPr>
            <a:r>
              <a:rPr sz="2000" b="1">
                <a:solidFill>
                  <a:srgbClr val="F0A83C"/>
                </a:solidFill>
              </a:rPr>
              <a:t>•  </a:t>
            </a:r>
            <a:r>
              <a:rPr sz="2000" b="0">
                <a:solidFill>
                  <a:srgbClr val="E7ECF5"/>
                </a:solidFill>
              </a:rPr>
              <a:t>MSPs and IT teams must call ISPs about outages across many client sites.</a:t>
            </a:r>
          </a:p>
          <a:p>
            <a:pPr algn="l">
              <a:spcAft>
                <a:spcPts val="1400"/>
              </a:spcAft>
            </a:pPr>
            <a:r>
              <a:rPr sz="2000" b="1">
                <a:solidFill>
                  <a:srgbClr val="F0A83C"/>
                </a:solidFill>
              </a:rPr>
              <a:t>•  </a:t>
            </a:r>
            <a:r>
              <a:rPr sz="2000" b="0">
                <a:solidFill>
                  <a:srgbClr val="E7ECF5"/>
                </a:solidFill>
              </a:rPr>
              <a:t>They sit on hold, navigate phone menus, talk to reps or bots, then write up notes by hand.</a:t>
            </a:r>
          </a:p>
          <a:p>
            <a:pPr algn="l">
              <a:spcAft>
                <a:spcPts val="1400"/>
              </a:spcAft>
            </a:pPr>
            <a:r>
              <a:rPr sz="2000" b="1">
                <a:solidFill>
                  <a:srgbClr val="F0A83C"/>
                </a:solidFill>
              </a:rPr>
              <a:t>•  </a:t>
            </a:r>
            <a:r>
              <a:rPr sz="2000" b="0">
                <a:solidFill>
                  <a:srgbClr val="E7ECF5"/>
                </a:solidFill>
              </a:rPr>
              <a:t>Slow, costly in human time, and inconsistent.</a:t>
            </a:r>
          </a:p>
          <a:p>
            <a:pPr algn="l">
              <a:spcAft>
                <a:spcPts val="1000"/>
              </a:spcAft>
            </a:pPr>
            <a:r>
              <a:rPr sz="2000" b="0">
                <a:solidFill>
                  <a:srgbClr val="9AA6BC"/>
                </a:solidFill>
              </a:rPr>
              <a:t>The differentiator is NOT the AI call (commoditized) — it's the </a:t>
            </a:r>
            <a:r>
              <a:rPr sz="2000" b="1">
                <a:solidFill>
                  <a:srgbClr val="F0A83C"/>
                </a:solidFill>
              </a:rPr>
              <a:t>structured, ticketable report</a:t>
            </a:r>
            <a:r>
              <a:rPr sz="2000" b="0">
                <a:solidFill>
                  <a:srgbClr val="9AA6BC"/>
                </a:solidFill>
              </a:rPr>
              <a:t>, produced unattended across many sites.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THE LOOP</a:t>
            </a:r>
          </a:p>
          <a:p>
            <a:pPr algn="l">
              <a:spcAft>
                <a:spcPts val="800"/>
              </a:spcAft>
            </a:pPr>
            <a:r>
              <a:rPr sz="3200" b="1">
                <a:solidFill>
                  <a:srgbClr val="E7ECF5"/>
                </a:solidFill>
              </a:rPr>
              <a:t>What it does</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10698480" cy="749808"/>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01952"/>
            <a:ext cx="10241280" cy="640080"/>
          </a:xfrm>
          <a:prstGeom prst="rect">
            <a:avLst/>
          </a:prstGeom>
          <a:noFill/>
        </p:spPr>
        <p:txBody>
          <a:bodyPr wrap="square">
            <a:spAutoFit/>
          </a:bodyPr>
          <a:lstStyle/>
          <a:p>
            <a:pPr algn="l">
              <a:spcAft>
                <a:spcPts val="800"/>
              </a:spcAft>
            </a:pPr>
            <a:r>
              <a:rPr sz="1700" b="1">
                <a:solidFill>
                  <a:srgbClr val="F0A83C"/>
                </a:solidFill>
              </a:rPr>
              <a:t>1.  Enter the outage    </a:t>
            </a:r>
            <a:r>
              <a:rPr sz="1700" b="0">
                <a:solidFill>
                  <a:srgbClr val="E7ECF5"/>
                </a:solidFill>
              </a:rPr>
              <a:t>A simple web form (stands in for a Utiliko / PSA ticket).</a:t>
            </a:r>
          </a:p>
        </p:txBody>
      </p:sp>
      <p:sp>
        <p:nvSpPr>
          <p:cNvPr id="6" name="Rectangle 5"/>
          <p:cNvSpPr/>
          <p:nvPr/>
        </p:nvSpPr>
        <p:spPr>
          <a:xfrm>
            <a:off x="731520" y="2697480"/>
            <a:ext cx="10698480" cy="749808"/>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770632"/>
            <a:ext cx="10241280" cy="640080"/>
          </a:xfrm>
          <a:prstGeom prst="rect">
            <a:avLst/>
          </a:prstGeom>
          <a:noFill/>
        </p:spPr>
        <p:txBody>
          <a:bodyPr wrap="square">
            <a:spAutoFit/>
          </a:bodyPr>
          <a:lstStyle/>
          <a:p>
            <a:pPr algn="l">
              <a:spcAft>
                <a:spcPts val="800"/>
              </a:spcAft>
            </a:pPr>
            <a:r>
              <a:rPr sz="1700" b="1">
                <a:solidFill>
                  <a:srgbClr val="F0A83C"/>
                </a:solidFill>
              </a:rPr>
              <a:t>2.  Dispatch the agent    </a:t>
            </a:r>
            <a:r>
              <a:rPr sz="1700" b="0">
                <a:solidFill>
                  <a:srgbClr val="E7ECF5"/>
                </a:solidFill>
              </a:rPr>
              <a:t>It calls the ISP and navigates whatever it reaches.</a:t>
            </a:r>
          </a:p>
        </p:txBody>
      </p:sp>
      <p:sp>
        <p:nvSpPr>
          <p:cNvPr id="8" name="Rectangle 7"/>
          <p:cNvSpPr/>
          <p:nvPr/>
        </p:nvSpPr>
        <p:spPr>
          <a:xfrm>
            <a:off x="731520" y="3566160"/>
            <a:ext cx="10698480" cy="749808"/>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39312"/>
            <a:ext cx="10241280" cy="640080"/>
          </a:xfrm>
          <a:prstGeom prst="rect">
            <a:avLst/>
          </a:prstGeom>
          <a:noFill/>
        </p:spPr>
        <p:txBody>
          <a:bodyPr wrap="square">
            <a:spAutoFit/>
          </a:bodyPr>
          <a:lstStyle/>
          <a:p>
            <a:pPr algn="l">
              <a:spcAft>
                <a:spcPts val="800"/>
              </a:spcAft>
            </a:pPr>
            <a:r>
              <a:rPr sz="1700" b="1">
                <a:solidFill>
                  <a:srgbClr val="F0A83C"/>
                </a:solidFill>
              </a:rPr>
              <a:t>3.  Navigate &amp; talk    </a:t>
            </a:r>
            <a:r>
              <a:rPr sz="1700" b="0">
                <a:solidFill>
                  <a:srgbClr val="E7ECF5"/>
                </a:solidFill>
              </a:rPr>
              <a:t>Human rep, IVR keypad menu, or a conversational AI bot.</a:t>
            </a:r>
          </a:p>
        </p:txBody>
      </p:sp>
      <p:sp>
        <p:nvSpPr>
          <p:cNvPr id="10" name="Rectangle 9"/>
          <p:cNvSpPr/>
          <p:nvPr/>
        </p:nvSpPr>
        <p:spPr>
          <a:xfrm>
            <a:off x="731520" y="4434840"/>
            <a:ext cx="10698480" cy="749808"/>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507992"/>
            <a:ext cx="10241280" cy="640080"/>
          </a:xfrm>
          <a:prstGeom prst="rect">
            <a:avLst/>
          </a:prstGeom>
          <a:noFill/>
        </p:spPr>
        <p:txBody>
          <a:bodyPr wrap="square">
            <a:spAutoFit/>
          </a:bodyPr>
          <a:lstStyle/>
          <a:p>
            <a:pPr algn="l">
              <a:spcAft>
                <a:spcPts val="800"/>
              </a:spcAft>
            </a:pPr>
            <a:r>
              <a:rPr sz="1700" b="1">
                <a:solidFill>
                  <a:srgbClr val="F0A83C"/>
                </a:solidFill>
              </a:rPr>
              <a:t>4.  Write the report    </a:t>
            </a:r>
            <a:r>
              <a:rPr sz="1700" b="0">
                <a:solidFill>
                  <a:srgbClr val="E7ECF5"/>
                </a:solidFill>
              </a:rPr>
              <a:t>Claude reads the transcript — never fabricates.</a:t>
            </a:r>
          </a:p>
        </p:txBody>
      </p:sp>
      <p:sp>
        <p:nvSpPr>
          <p:cNvPr id="12" name="Rectangle 11"/>
          <p:cNvSpPr/>
          <p:nvPr/>
        </p:nvSpPr>
        <p:spPr>
          <a:xfrm>
            <a:off x="731520" y="5303520"/>
            <a:ext cx="10698480" cy="749808"/>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376672"/>
            <a:ext cx="10241280" cy="640080"/>
          </a:xfrm>
          <a:prstGeom prst="rect">
            <a:avLst/>
          </a:prstGeom>
          <a:noFill/>
        </p:spPr>
        <p:txBody>
          <a:bodyPr wrap="square">
            <a:spAutoFit/>
          </a:bodyPr>
          <a:lstStyle/>
          <a:p>
            <a:pPr algn="l">
              <a:spcAft>
                <a:spcPts val="800"/>
              </a:spcAft>
            </a:pPr>
            <a:r>
              <a:rPr sz="1700" b="1">
                <a:solidFill>
                  <a:srgbClr val="F0A83C"/>
                </a:solidFill>
              </a:rPr>
              <a:t>5.  Read it on screen    </a:t>
            </a:r>
            <a:r>
              <a:rPr sz="1700" b="0">
                <a:solidFill>
                  <a:srgbClr val="E7ECF5"/>
                </a:solidFill>
              </a:rPr>
              <a:t>Outcome, summary, call recording, full transcript.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ARCHITECTURE</a:t>
            </a:r>
          </a:p>
          <a:p>
            <a:pPr algn="l">
              <a:spcAft>
                <a:spcPts val="800"/>
              </a:spcAft>
            </a:pPr>
            <a:r>
              <a:rPr sz="3200" b="1">
                <a:solidFill>
                  <a:srgbClr val="E7ECF5"/>
                </a:solidFill>
              </a:rPr>
              <a:t>How it's built</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07040" cy="4389120"/>
          </a:xfrm>
          <a:prstGeom prst="rect">
            <a:avLst/>
          </a:prstGeom>
          <a:noFill/>
        </p:spPr>
        <p:txBody>
          <a:bodyPr wrap="square">
            <a:spAutoFit/>
          </a:bodyPr>
          <a:lstStyle/>
          <a:p/>
          <a:p>
            <a:pPr algn="l">
              <a:spcAft>
                <a:spcPts val="1100"/>
              </a:spcAft>
            </a:pPr>
            <a:r>
              <a:rPr sz="1700" b="1">
                <a:solidFill>
                  <a:srgbClr val="F0A83C"/>
                </a:solidFill>
              </a:rPr>
              <a:t>          Frontend   </a:t>
            </a:r>
            <a:r>
              <a:rPr sz="1700" b="0">
                <a:solidFill>
                  <a:srgbClr val="E7ECF5"/>
                </a:solidFill>
              </a:rPr>
              <a:t>React (Vite) — form, request list, report card.</a:t>
            </a:r>
          </a:p>
          <a:p>
            <a:pPr algn="l">
              <a:spcAft>
                <a:spcPts val="1100"/>
              </a:spcAft>
            </a:pPr>
            <a:r>
              <a:rPr sz="1700" b="1">
                <a:solidFill>
                  <a:srgbClr val="F0A83C"/>
                </a:solidFill>
              </a:rPr>
              <a:t>           Backend   </a:t>
            </a:r>
            <a:r>
              <a:rPr sz="1700" b="0">
                <a:solidFill>
                  <a:srgbClr val="E7ECF5"/>
                </a:solidFill>
              </a:rPr>
              <a:t>FastAPI + SQLite (thin data layer).</a:t>
            </a:r>
          </a:p>
          <a:p>
            <a:pPr algn="l">
              <a:spcAft>
                <a:spcPts val="1100"/>
              </a:spcAft>
            </a:pPr>
            <a:r>
              <a:rPr sz="1700" b="1">
                <a:solidFill>
                  <a:srgbClr val="F0A83C"/>
                </a:solidFill>
              </a:rPr>
              <a:t>             Voice   </a:t>
            </a:r>
            <a:r>
              <a:rPr sz="1700" b="0">
                <a:solidFill>
                  <a:srgbClr val="E7ECF5"/>
                </a:solidFill>
              </a:rPr>
              <a:t>Vapi = telephony + speech-to-text + LLM + text-to-speech + turn-taking.</a:t>
            </a:r>
          </a:p>
          <a:p>
            <a:pPr algn="l">
              <a:spcAft>
                <a:spcPts val="1100"/>
              </a:spcAft>
            </a:pPr>
            <a:r>
              <a:rPr sz="1700" b="1">
                <a:solidFill>
                  <a:srgbClr val="F0A83C"/>
                </a:solidFill>
              </a:rPr>
              <a:t>     In-call brain   </a:t>
            </a:r>
            <a:r>
              <a:rPr sz="1700" b="0">
                <a:solidFill>
                  <a:srgbClr val="E7ECF5"/>
                </a:solidFill>
              </a:rPr>
              <a:t>GPT-4o-mini (fast).</a:t>
            </a:r>
          </a:p>
          <a:p>
            <a:pPr algn="l">
              <a:spcAft>
                <a:spcPts val="1100"/>
              </a:spcAft>
            </a:pPr>
            <a:r>
              <a:rPr sz="1700" b="1">
                <a:solidFill>
                  <a:srgbClr val="F0A83C"/>
                </a:solidFill>
              </a:rPr>
              <a:t> Report extraction   </a:t>
            </a:r>
            <a:r>
              <a:rPr sz="1700" b="0">
                <a:solidFill>
                  <a:srgbClr val="E7ECF5"/>
                </a:solidFill>
              </a:rPr>
              <a:t>Claude Sonnet (accurate, never-fabricate).</a:t>
            </a:r>
          </a:p>
          <a:p>
            <a:pPr algn="l">
              <a:spcAft>
                <a:spcPts val="1100"/>
              </a:spcAft>
            </a:pPr>
            <a:r>
              <a:rPr sz="1700" b="1">
                <a:solidFill>
                  <a:srgbClr val="F0A83C"/>
                </a:solidFill>
              </a:rPr>
              <a:t>         Swappable   </a:t>
            </a:r>
            <a:r>
              <a:rPr sz="1700" b="0">
                <a:solidFill>
                  <a:srgbClr val="E7ECF5"/>
                </a:solidFill>
              </a:rPr>
              <a:t>VoiceProvider interface — Stub for tests, Vapi live, Bland could drop in.</a:t>
            </a:r>
          </a:p>
          <a:p>
            <a:pPr algn="l">
              <a:spcAft>
                <a:spcPts val="1100"/>
              </a:spcAft>
            </a:pPr>
            <a:r>
              <a:rPr sz="1700" b="1">
                <a:solidFill>
                  <a:srgbClr val="F0A83C"/>
                </a:solidFill>
              </a:rPr>
              <a:t>           Quality   </a:t>
            </a:r>
            <a:r>
              <a:rPr sz="1700" b="0">
                <a:solidFill>
                  <a:srgbClr val="E7ECF5"/>
                </a:solidFill>
              </a:rPr>
              <a:t>50 automated tests (TDD).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TEST MATRIX</a:t>
            </a:r>
          </a:p>
          <a:p>
            <a:pPr algn="l">
              <a:spcAft>
                <a:spcPts val="800"/>
              </a:spcAft>
            </a:pPr>
            <a:r>
              <a:rPr sz="3200" b="1">
                <a:solidFill>
                  <a:srgbClr val="E7ECF5"/>
                </a:solidFill>
              </a:rPr>
              <a:t>Proven end-to-end on live calls</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74519"/>
            <a:ext cx="10698480" cy="786384"/>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20824"/>
            <a:ext cx="8778240" cy="548640"/>
          </a:xfrm>
          <a:prstGeom prst="rect">
            <a:avLst/>
          </a:prstGeom>
          <a:noFill/>
        </p:spPr>
        <p:txBody>
          <a:bodyPr wrap="square">
            <a:spAutoFit/>
          </a:bodyPr>
          <a:lstStyle/>
          <a:p>
            <a:pPr algn="l">
              <a:spcAft>
                <a:spcPts val="800"/>
              </a:spcAft>
            </a:pPr>
            <a:r>
              <a:rPr sz="1800" b="0">
                <a:solidFill>
                  <a:srgbClr val="E7ECF5"/>
                </a:solidFill>
              </a:rPr>
              <a:t>Live human rep</a:t>
            </a:r>
          </a:p>
        </p:txBody>
      </p:sp>
      <p:sp>
        <p:nvSpPr>
          <p:cNvPr id="6" name="TextBox 5"/>
          <p:cNvSpPr txBox="1"/>
          <p:nvPr/>
        </p:nvSpPr>
        <p:spPr>
          <a:xfrm>
            <a:off x="9784080" y="2020824"/>
            <a:ext cx="1463040" cy="548640"/>
          </a:xfrm>
          <a:prstGeom prst="rect">
            <a:avLst/>
          </a:prstGeom>
          <a:noFill/>
        </p:spPr>
        <p:txBody>
          <a:bodyPr wrap="square">
            <a:spAutoFit/>
          </a:bodyPr>
          <a:lstStyle/>
          <a:p>
            <a:pPr algn="ctr">
              <a:spcAft>
                <a:spcPts val="800"/>
              </a:spcAft>
            </a:pPr>
            <a:r>
              <a:rPr sz="1800" b="1">
                <a:solidFill>
                  <a:srgbClr val="6FD49B"/>
                </a:solidFill>
              </a:rPr>
              <a:t>✓ PASS</a:t>
            </a:r>
          </a:p>
        </p:txBody>
      </p:sp>
      <p:sp>
        <p:nvSpPr>
          <p:cNvPr id="7" name="Rectangle 6"/>
          <p:cNvSpPr/>
          <p:nvPr/>
        </p:nvSpPr>
        <p:spPr>
          <a:xfrm>
            <a:off x="731520" y="2779776"/>
            <a:ext cx="10698480" cy="786384"/>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926080"/>
            <a:ext cx="8778240" cy="548640"/>
          </a:xfrm>
          <a:prstGeom prst="rect">
            <a:avLst/>
          </a:prstGeom>
          <a:noFill/>
        </p:spPr>
        <p:txBody>
          <a:bodyPr wrap="square">
            <a:spAutoFit/>
          </a:bodyPr>
          <a:lstStyle/>
          <a:p>
            <a:pPr algn="l">
              <a:spcAft>
                <a:spcPts val="800"/>
              </a:spcAft>
            </a:pPr>
            <a:r>
              <a:rPr sz="1800" b="0">
                <a:solidFill>
                  <a:srgbClr val="E7ECF5"/>
                </a:solidFill>
              </a:rPr>
              <a:t>Simple keypad IVR menu</a:t>
            </a:r>
          </a:p>
        </p:txBody>
      </p:sp>
      <p:sp>
        <p:nvSpPr>
          <p:cNvPr id="9" name="TextBox 8"/>
          <p:cNvSpPr txBox="1"/>
          <p:nvPr/>
        </p:nvSpPr>
        <p:spPr>
          <a:xfrm>
            <a:off x="9784080" y="2926080"/>
            <a:ext cx="1463040" cy="548640"/>
          </a:xfrm>
          <a:prstGeom prst="rect">
            <a:avLst/>
          </a:prstGeom>
          <a:noFill/>
        </p:spPr>
        <p:txBody>
          <a:bodyPr wrap="square">
            <a:spAutoFit/>
          </a:bodyPr>
          <a:lstStyle/>
          <a:p>
            <a:pPr algn="ctr">
              <a:spcAft>
                <a:spcPts val="800"/>
              </a:spcAft>
            </a:pPr>
            <a:r>
              <a:rPr sz="1800" b="1">
                <a:solidFill>
                  <a:srgbClr val="6FD49B"/>
                </a:solidFill>
              </a:rPr>
              <a:t>✓ PASS</a:t>
            </a:r>
          </a:p>
        </p:txBody>
      </p:sp>
      <p:sp>
        <p:nvSpPr>
          <p:cNvPr id="10" name="Rectangle 9"/>
          <p:cNvSpPr/>
          <p:nvPr/>
        </p:nvSpPr>
        <p:spPr>
          <a:xfrm>
            <a:off x="731520" y="3685032"/>
            <a:ext cx="10698480" cy="786384"/>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31336"/>
            <a:ext cx="8778240" cy="548640"/>
          </a:xfrm>
          <a:prstGeom prst="rect">
            <a:avLst/>
          </a:prstGeom>
          <a:noFill/>
        </p:spPr>
        <p:txBody>
          <a:bodyPr wrap="square">
            <a:spAutoFit/>
          </a:bodyPr>
          <a:lstStyle/>
          <a:p>
            <a:pPr algn="l">
              <a:spcAft>
                <a:spcPts val="800"/>
              </a:spcAft>
            </a:pPr>
            <a:r>
              <a:rPr sz="1800" b="0">
                <a:solidFill>
                  <a:srgbClr val="E7ECF5"/>
                </a:solidFill>
              </a:rPr>
              <a:t>Hard branching IVR  (decoys + keypad data entry)</a:t>
            </a:r>
          </a:p>
        </p:txBody>
      </p:sp>
      <p:sp>
        <p:nvSpPr>
          <p:cNvPr id="12" name="TextBox 11"/>
          <p:cNvSpPr txBox="1"/>
          <p:nvPr/>
        </p:nvSpPr>
        <p:spPr>
          <a:xfrm>
            <a:off x="9784080" y="3831336"/>
            <a:ext cx="1463040" cy="548640"/>
          </a:xfrm>
          <a:prstGeom prst="rect">
            <a:avLst/>
          </a:prstGeom>
          <a:noFill/>
        </p:spPr>
        <p:txBody>
          <a:bodyPr wrap="square">
            <a:spAutoFit/>
          </a:bodyPr>
          <a:lstStyle/>
          <a:p>
            <a:pPr algn="ctr">
              <a:spcAft>
                <a:spcPts val="800"/>
              </a:spcAft>
            </a:pPr>
            <a:r>
              <a:rPr sz="1800" b="1">
                <a:solidFill>
                  <a:srgbClr val="6FD49B"/>
                </a:solidFill>
              </a:rPr>
              <a:t>✓ PASS</a:t>
            </a:r>
          </a:p>
        </p:txBody>
      </p:sp>
      <p:sp>
        <p:nvSpPr>
          <p:cNvPr id="13" name="Rectangle 12"/>
          <p:cNvSpPr/>
          <p:nvPr/>
        </p:nvSpPr>
        <p:spPr>
          <a:xfrm>
            <a:off x="731520" y="4590288"/>
            <a:ext cx="10698480" cy="786384"/>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736592"/>
            <a:ext cx="8778240" cy="548640"/>
          </a:xfrm>
          <a:prstGeom prst="rect">
            <a:avLst/>
          </a:prstGeom>
          <a:noFill/>
        </p:spPr>
        <p:txBody>
          <a:bodyPr wrap="square">
            <a:spAutoFit/>
          </a:bodyPr>
          <a:lstStyle/>
          <a:p>
            <a:pPr algn="l">
              <a:spcAft>
                <a:spcPts val="800"/>
              </a:spcAft>
            </a:pPr>
            <a:r>
              <a:rPr sz="1800" b="0">
                <a:solidFill>
                  <a:srgbClr val="E7ECF5"/>
                </a:solidFill>
              </a:rPr>
              <a:t>Conversational ISP bot  (self-service loop → rep)</a:t>
            </a:r>
          </a:p>
        </p:txBody>
      </p:sp>
      <p:sp>
        <p:nvSpPr>
          <p:cNvPr id="15" name="TextBox 14"/>
          <p:cNvSpPr txBox="1"/>
          <p:nvPr/>
        </p:nvSpPr>
        <p:spPr>
          <a:xfrm>
            <a:off x="9784080" y="4736592"/>
            <a:ext cx="1463040" cy="548640"/>
          </a:xfrm>
          <a:prstGeom prst="rect">
            <a:avLst/>
          </a:prstGeom>
          <a:noFill/>
        </p:spPr>
        <p:txBody>
          <a:bodyPr wrap="square">
            <a:spAutoFit/>
          </a:bodyPr>
          <a:lstStyle/>
          <a:p>
            <a:pPr algn="ctr">
              <a:spcAft>
                <a:spcPts val="800"/>
              </a:spcAft>
            </a:pPr>
            <a:r>
              <a:rPr sz="1800" b="1">
                <a:solidFill>
                  <a:srgbClr val="6FD49B"/>
                </a:solidFill>
              </a:rPr>
              <a:t>✓ PASS</a:t>
            </a:r>
          </a:p>
        </p:txBody>
      </p:sp>
      <p:sp>
        <p:nvSpPr>
          <p:cNvPr id="16" name="Rectangle 15"/>
          <p:cNvSpPr/>
          <p:nvPr/>
        </p:nvSpPr>
        <p:spPr>
          <a:xfrm>
            <a:off x="731520" y="5495544"/>
            <a:ext cx="10698480" cy="786384"/>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641848"/>
            <a:ext cx="8778240" cy="548640"/>
          </a:xfrm>
          <a:prstGeom prst="rect">
            <a:avLst/>
          </a:prstGeom>
          <a:noFill/>
        </p:spPr>
        <p:txBody>
          <a:bodyPr wrap="square">
            <a:spAutoFit/>
          </a:bodyPr>
          <a:lstStyle/>
          <a:p>
            <a:pPr algn="l">
              <a:spcAft>
                <a:spcPts val="800"/>
              </a:spcAft>
            </a:pPr>
            <a:r>
              <a:rPr sz="1800" b="0">
                <a:solidFill>
                  <a:srgbClr val="E7ECF5"/>
                </a:solidFill>
              </a:rPr>
              <a:t>Hard conversational bot  (verify gauntlet + double deflection + hold)</a:t>
            </a:r>
          </a:p>
        </p:txBody>
      </p:sp>
      <p:sp>
        <p:nvSpPr>
          <p:cNvPr id="18" name="TextBox 17"/>
          <p:cNvSpPr txBox="1"/>
          <p:nvPr/>
        </p:nvSpPr>
        <p:spPr>
          <a:xfrm>
            <a:off x="9784080" y="5641848"/>
            <a:ext cx="1463040" cy="548640"/>
          </a:xfrm>
          <a:prstGeom prst="rect">
            <a:avLst/>
          </a:prstGeom>
          <a:noFill/>
        </p:spPr>
        <p:txBody>
          <a:bodyPr wrap="square">
            <a:spAutoFit/>
          </a:bodyPr>
          <a:lstStyle/>
          <a:p>
            <a:pPr algn="ctr">
              <a:spcAft>
                <a:spcPts val="800"/>
              </a:spcAft>
            </a:pPr>
            <a:r>
              <a:rPr sz="1800" b="1">
                <a:solidFill>
                  <a:srgbClr val="6FD49B"/>
                </a:solidFill>
              </a:rPr>
              <a:t>✓ 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EXAMPLE 1</a:t>
            </a:r>
          </a:p>
          <a:p>
            <a:pPr algn="l">
              <a:spcAft>
                <a:spcPts val="800"/>
              </a:spcAft>
            </a:pPr>
            <a:r>
              <a:rPr sz="3200" b="1">
                <a:solidFill>
                  <a:srgbClr val="E7ECF5"/>
                </a:solidFill>
              </a:rPr>
              <a:t>Hard IVR — keypad navigation</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7040880" cy="4480560"/>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6675120" cy="4206240"/>
          </a:xfrm>
          <a:prstGeom prst="rect">
            <a:avLst/>
          </a:prstGeom>
          <a:noFill/>
        </p:spPr>
        <p:txBody>
          <a:bodyPr wrap="square">
            <a:spAutoFit/>
          </a:bodyPr>
          <a:lstStyle/>
          <a:p>
            <a:pPr algn="l">
              <a:spcAft>
                <a:spcPts val="800"/>
              </a:spcAft>
            </a:pPr>
            <a:r>
              <a:rPr sz="1200" b="1">
                <a:solidFill>
                  <a:srgbClr val="9AA6BC"/>
                </a:solidFill>
              </a:rPr>
              <a:t>TRANSCRIPT (excerpt)</a:t>
            </a:r>
          </a:p>
          <a:p>
            <a:pPr algn="l">
              <a:spcAft>
                <a:spcPts val="700"/>
              </a:spcAft>
            </a:pPr>
            <a:r>
              <a:rPr sz="1250" b="1">
                <a:solidFill>
                  <a:srgbClr val="F0A83C"/>
                </a:solidFill>
                <a:latin typeface="Menlo"/>
              </a:rPr>
              <a:t>Agent: </a:t>
            </a:r>
            <a:r>
              <a:rPr sz="1250" b="0">
                <a:solidFill>
                  <a:srgbClr val="E7ECF5"/>
                </a:solidFill>
                <a:latin typeface="Menlo"/>
              </a:rPr>
              <a:t>I'm calling about a business internet outage.</a:t>
            </a:r>
          </a:p>
          <a:p>
            <a:pPr algn="l">
              <a:spcAft>
                <a:spcPts val="700"/>
              </a:spcAft>
            </a:pPr>
            <a:r>
              <a:rPr sz="1250" b="1">
                <a:solidFill>
                  <a:srgbClr val="9AA6BC"/>
                </a:solidFill>
                <a:latin typeface="Menlo"/>
              </a:rPr>
              <a:t>ISP: </a:t>
            </a:r>
            <a:r>
              <a:rPr sz="1250" b="0">
                <a:solidFill>
                  <a:srgbClr val="E7ECF5"/>
                </a:solidFill>
                <a:latin typeface="Menlo"/>
              </a:rPr>
              <a:t>For technical support, press 3.</a:t>
            </a:r>
          </a:p>
          <a:p>
            <a:pPr algn="l">
              <a:spcAft>
                <a:spcPts val="700"/>
              </a:spcAft>
            </a:pPr>
            <a:r>
              <a:rPr sz="1250" b="1">
                <a:solidFill>
                  <a:srgbClr val="F0A83C"/>
                </a:solidFill>
                <a:latin typeface="Menlo"/>
              </a:rPr>
              <a:t>Agent: </a:t>
            </a:r>
            <a:r>
              <a:rPr sz="1250" b="0">
                <a:solidFill>
                  <a:srgbClr val="E7ECF5"/>
                </a:solidFill>
                <a:latin typeface="Menlo"/>
              </a:rPr>
              <a:t>[presses 3]</a:t>
            </a:r>
          </a:p>
          <a:p>
            <a:pPr algn="l">
              <a:spcAft>
                <a:spcPts val="700"/>
              </a:spcAft>
            </a:pPr>
            <a:r>
              <a:rPr sz="1250" b="1">
                <a:solidFill>
                  <a:srgbClr val="9AA6BC"/>
                </a:solidFill>
                <a:latin typeface="Menlo"/>
              </a:rPr>
              <a:t>ISP: </a:t>
            </a:r>
            <a:r>
              <a:rPr sz="1250" b="0">
                <a:solidFill>
                  <a:srgbClr val="E7ECF5"/>
                </a:solidFill>
                <a:latin typeface="Menlo"/>
              </a:rPr>
              <a:t>For internet, press 2.</a:t>
            </a:r>
          </a:p>
          <a:p>
            <a:pPr algn="l">
              <a:spcAft>
                <a:spcPts val="700"/>
              </a:spcAft>
            </a:pPr>
            <a:r>
              <a:rPr sz="1250" b="1">
                <a:solidFill>
                  <a:srgbClr val="F0A83C"/>
                </a:solidFill>
                <a:latin typeface="Menlo"/>
              </a:rPr>
              <a:t>Agent: </a:t>
            </a:r>
            <a:r>
              <a:rPr sz="1250" b="0">
                <a:solidFill>
                  <a:srgbClr val="E7ECF5"/>
                </a:solidFill>
                <a:latin typeface="Menlo"/>
              </a:rPr>
              <a:t>[presses 2]</a:t>
            </a:r>
          </a:p>
          <a:p>
            <a:pPr algn="l">
              <a:spcAft>
                <a:spcPts val="700"/>
              </a:spcAft>
            </a:pPr>
            <a:r>
              <a:rPr sz="1250" b="1">
                <a:solidFill>
                  <a:srgbClr val="9AA6BC"/>
                </a:solidFill>
                <a:latin typeface="Menlo"/>
              </a:rPr>
              <a:t>ISP: </a:t>
            </a:r>
            <a:r>
              <a:rPr sz="1250" b="0">
                <a:solidFill>
                  <a:srgbClr val="E7ECF5"/>
                </a:solidFill>
                <a:latin typeface="Menlo"/>
              </a:rPr>
              <a:t>To report an outage, press 2.</a:t>
            </a:r>
          </a:p>
          <a:p>
            <a:pPr algn="l">
              <a:spcAft>
                <a:spcPts val="700"/>
              </a:spcAft>
            </a:pPr>
            <a:r>
              <a:rPr sz="1250" b="1">
                <a:solidFill>
                  <a:srgbClr val="F0A83C"/>
                </a:solidFill>
                <a:latin typeface="Menlo"/>
              </a:rPr>
              <a:t>Agent: </a:t>
            </a:r>
            <a:r>
              <a:rPr sz="1250" b="0">
                <a:solidFill>
                  <a:srgbClr val="E7ECF5"/>
                </a:solidFill>
                <a:latin typeface="Menlo"/>
              </a:rPr>
              <a:t>[presses 2]</a:t>
            </a:r>
          </a:p>
          <a:p>
            <a:pPr algn="l">
              <a:spcAft>
                <a:spcPts val="700"/>
              </a:spcAft>
            </a:pPr>
            <a:r>
              <a:rPr sz="1250" b="1">
                <a:solidFill>
                  <a:srgbClr val="9AA6BC"/>
                </a:solidFill>
                <a:latin typeface="Menlo"/>
              </a:rPr>
              <a:t>ISP: </a:t>
            </a:r>
            <a:r>
              <a:rPr sz="1250" b="0">
                <a:solidFill>
                  <a:srgbClr val="E7ECF5"/>
                </a:solidFill>
                <a:latin typeface="Menlo"/>
              </a:rPr>
              <a:t>Enter your 10-digit number followed by #.</a:t>
            </a:r>
          </a:p>
          <a:p>
            <a:pPr algn="l">
              <a:spcAft>
                <a:spcPts val="700"/>
              </a:spcAft>
            </a:pPr>
            <a:r>
              <a:rPr sz="1250" b="1">
                <a:solidFill>
                  <a:srgbClr val="F0A83C"/>
                </a:solidFill>
                <a:latin typeface="Menlo"/>
              </a:rPr>
              <a:t>Agent: </a:t>
            </a:r>
            <a:r>
              <a:rPr sz="1250" b="0">
                <a:solidFill>
                  <a:srgbClr val="E7ECF5"/>
                </a:solidFill>
                <a:latin typeface="Menlo"/>
              </a:rPr>
              <a:t>[enters number + #]</a:t>
            </a:r>
          </a:p>
          <a:p>
            <a:pPr algn="l">
              <a:spcAft>
                <a:spcPts val="700"/>
              </a:spcAft>
            </a:pPr>
            <a:r>
              <a:rPr sz="1250" b="1">
                <a:solidFill>
                  <a:srgbClr val="9AA6BC"/>
                </a:solidFill>
                <a:latin typeface="Menlo"/>
              </a:rPr>
              <a:t>ISP: </a:t>
            </a:r>
            <a:r>
              <a:rPr sz="1250" b="0">
                <a:solidFill>
                  <a:srgbClr val="E7ECF5"/>
                </a:solidFill>
                <a:latin typeface="Menlo"/>
              </a:rPr>
              <a:t>Outage due to severe weather. ETA 9 PM. Ref 67890.</a:t>
            </a:r>
          </a:p>
        </p:txBody>
      </p:sp>
      <p:sp>
        <p:nvSpPr>
          <p:cNvPr id="6" name="Rectangle 5"/>
          <p:cNvSpPr/>
          <p:nvPr/>
        </p:nvSpPr>
        <p:spPr>
          <a:xfrm>
            <a:off x="8001000" y="1828800"/>
            <a:ext cx="3429000" cy="4480560"/>
          </a:xfrm>
          <a:prstGeom prst="rect">
            <a:avLst/>
          </a:prstGeom>
          <a:solidFill>
            <a:srgbClr val="121A28"/>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79" y="2011680"/>
            <a:ext cx="3108960" cy="4114800"/>
          </a:xfrm>
          <a:prstGeom prst="rect">
            <a:avLst/>
          </a:prstGeom>
          <a:noFill/>
        </p:spPr>
        <p:txBody>
          <a:bodyPr wrap="square">
            <a:spAutoFit/>
          </a:bodyPr>
          <a:lstStyle/>
          <a:p>
            <a:pPr algn="l">
              <a:spcAft>
                <a:spcPts val="1000"/>
              </a:spcAft>
            </a:pPr>
            <a:r>
              <a:rPr sz="1200" b="1">
                <a:solidFill>
                  <a:srgbClr val="9AA6BC"/>
                </a:solidFill>
              </a:rPr>
              <a:t>STRUCTURED REPORT</a:t>
            </a:r>
          </a:p>
          <a:p>
            <a:pPr algn="l">
              <a:spcAft>
                <a:spcPts val="100"/>
              </a:spcAft>
            </a:pPr>
            <a:r>
              <a:rPr sz="1100" b="0">
                <a:solidFill>
                  <a:srgbClr val="9AA6BC"/>
                </a:solidFill>
              </a:rPr>
              <a:t>OUTCOME</a:t>
            </a:r>
          </a:p>
          <a:p>
            <a:pPr algn="l">
              <a:spcAft>
                <a:spcPts val="1000"/>
              </a:spcAft>
            </a:pPr>
            <a:r>
              <a:rPr sz="1500" b="1">
                <a:solidFill>
                  <a:srgbClr val="E7ECF5"/>
                </a:solidFill>
              </a:rPr>
              <a:t>Outage confirmed — ETA</a:t>
            </a:r>
          </a:p>
          <a:p>
            <a:pPr algn="l">
              <a:spcAft>
                <a:spcPts val="100"/>
              </a:spcAft>
            </a:pPr>
            <a:r>
              <a:rPr sz="1100" b="0">
                <a:solidFill>
                  <a:srgbClr val="9AA6BC"/>
                </a:solidFill>
              </a:rPr>
              <a:t>REASON</a:t>
            </a:r>
          </a:p>
          <a:p>
            <a:pPr algn="l">
              <a:spcAft>
                <a:spcPts val="1000"/>
              </a:spcAft>
            </a:pPr>
            <a:r>
              <a:rPr sz="1500" b="1">
                <a:solidFill>
                  <a:srgbClr val="E7ECF5"/>
                </a:solidFill>
              </a:rPr>
              <a:t>Severe weather</a:t>
            </a:r>
          </a:p>
          <a:p>
            <a:pPr algn="l">
              <a:spcAft>
                <a:spcPts val="100"/>
              </a:spcAft>
            </a:pPr>
            <a:r>
              <a:rPr sz="1100" b="0">
                <a:solidFill>
                  <a:srgbClr val="9AA6BC"/>
                </a:solidFill>
              </a:rPr>
              <a:t>ETA</a:t>
            </a:r>
          </a:p>
          <a:p>
            <a:pPr algn="l">
              <a:spcAft>
                <a:spcPts val="1000"/>
              </a:spcAft>
            </a:pPr>
            <a:r>
              <a:rPr sz="1500" b="1">
                <a:solidFill>
                  <a:srgbClr val="E7ECF5"/>
                </a:solidFill>
              </a:rPr>
              <a:t>9 PM today</a:t>
            </a:r>
          </a:p>
          <a:p>
            <a:pPr algn="l">
              <a:spcAft>
                <a:spcPts val="100"/>
              </a:spcAft>
            </a:pPr>
            <a:r>
              <a:rPr sz="1100" b="0">
                <a:solidFill>
                  <a:srgbClr val="9AA6BC"/>
                </a:solidFill>
              </a:rPr>
              <a:t>REFERENCE #</a:t>
            </a:r>
          </a:p>
          <a:p>
            <a:pPr algn="l">
              <a:spcAft>
                <a:spcPts val="1000"/>
              </a:spcAft>
            </a:pPr>
            <a:r>
              <a:rPr sz="1500" b="1">
                <a:solidFill>
                  <a:srgbClr val="E7ECF5"/>
                </a:solidFill>
              </a:rPr>
              <a:t>67890</a:t>
            </a:r>
          </a:p>
          <a:p>
            <a:pPr algn="l">
              <a:spcAft>
                <a:spcPts val="100"/>
              </a:spcAft>
            </a:pPr>
            <a:r>
              <a:rPr sz="1100" b="0">
                <a:solidFill>
                  <a:srgbClr val="9AA6BC"/>
                </a:solidFill>
              </a:rPr>
              <a:t>RESPONDER</a:t>
            </a:r>
          </a:p>
          <a:p>
            <a:pPr algn="l">
              <a:spcAft>
                <a:spcPts val="1000"/>
              </a:spcAft>
            </a:pPr>
            <a:r>
              <a:rPr sz="1500" b="1">
                <a:solidFill>
                  <a:srgbClr val="E7ECF5"/>
                </a:solidFill>
              </a:rPr>
              <a:t>Recorded message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EXAMPLE 2</a:t>
            </a:r>
          </a:p>
          <a:p>
            <a:pPr algn="l">
              <a:spcAft>
                <a:spcPts val="800"/>
              </a:spcAft>
            </a:pPr>
            <a:r>
              <a:rPr sz="3200" b="1">
                <a:solidFill>
                  <a:srgbClr val="E7ECF5"/>
                </a:solidFill>
              </a:rPr>
              <a:t>Conversational ISP bot</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7040880" cy="4480560"/>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6675120" cy="4206240"/>
          </a:xfrm>
          <a:prstGeom prst="rect">
            <a:avLst/>
          </a:prstGeom>
          <a:noFill/>
        </p:spPr>
        <p:txBody>
          <a:bodyPr wrap="square">
            <a:spAutoFit/>
          </a:bodyPr>
          <a:lstStyle/>
          <a:p>
            <a:pPr algn="l">
              <a:spcAft>
                <a:spcPts val="800"/>
              </a:spcAft>
            </a:pPr>
            <a:r>
              <a:rPr sz="1200" b="1">
                <a:solidFill>
                  <a:srgbClr val="9AA6BC"/>
                </a:solidFill>
              </a:rPr>
              <a:t>TRANSCRIPT (excerpt)</a:t>
            </a:r>
          </a:p>
          <a:p>
            <a:pPr algn="l">
              <a:spcAft>
                <a:spcPts val="700"/>
              </a:spcAft>
            </a:pPr>
            <a:r>
              <a:rPr sz="1250" b="1">
                <a:solidFill>
                  <a:srgbClr val="9AA6BC"/>
                </a:solidFill>
                <a:latin typeface="Menlo"/>
              </a:rPr>
              <a:t>ISP: </a:t>
            </a:r>
            <a:r>
              <a:rPr sz="1250" b="0">
                <a:solidFill>
                  <a:srgbClr val="E7ECF5"/>
                </a:solidFill>
                <a:latin typeface="Menlo"/>
              </a:rPr>
              <a:t>How can I help you today?</a:t>
            </a:r>
          </a:p>
          <a:p>
            <a:pPr algn="l">
              <a:spcAft>
                <a:spcPts val="700"/>
              </a:spcAft>
            </a:pPr>
            <a:r>
              <a:rPr sz="1250" b="1">
                <a:solidFill>
                  <a:srgbClr val="F0A83C"/>
                </a:solidFill>
                <a:latin typeface="Menlo"/>
              </a:rPr>
              <a:t>Agent: </a:t>
            </a:r>
            <a:r>
              <a:rPr sz="1250" b="0">
                <a:solidFill>
                  <a:srgbClr val="E7ECF5"/>
                </a:solidFill>
                <a:latin typeface="Menlo"/>
              </a:rPr>
              <a:t>I'm calling about a business internet outage at...</a:t>
            </a:r>
          </a:p>
          <a:p>
            <a:pPr algn="l">
              <a:spcAft>
                <a:spcPts val="700"/>
              </a:spcAft>
            </a:pPr>
            <a:r>
              <a:rPr sz="1250" b="1">
                <a:solidFill>
                  <a:srgbClr val="9AA6BC"/>
                </a:solidFill>
                <a:latin typeface="Menlo"/>
              </a:rPr>
              <a:t>ISP: </a:t>
            </a:r>
            <a:r>
              <a:rPr sz="1250" b="0">
                <a:solidFill>
                  <a:srgbClr val="E7ECF5"/>
                </a:solidFill>
                <a:latin typeface="Menlo"/>
              </a:rPr>
              <a:t>Can I send you a text with more info?</a:t>
            </a:r>
          </a:p>
          <a:p>
            <a:pPr algn="l">
              <a:spcAft>
                <a:spcPts val="700"/>
              </a:spcAft>
            </a:pPr>
            <a:r>
              <a:rPr sz="1250" b="1">
                <a:solidFill>
                  <a:srgbClr val="F0A83C"/>
                </a:solidFill>
                <a:latin typeface="Menlo"/>
              </a:rPr>
              <a:t>Agent: </a:t>
            </a:r>
            <a:r>
              <a:rPr sz="1250" b="0">
                <a:solidFill>
                  <a:srgbClr val="E7ECF5"/>
                </a:solidFill>
                <a:latin typeface="Menlo"/>
              </a:rPr>
              <a:t>No thank you — I'd prefer to get it over the phone.</a:t>
            </a:r>
          </a:p>
          <a:p>
            <a:pPr algn="l">
              <a:spcAft>
                <a:spcPts val="700"/>
              </a:spcAft>
            </a:pPr>
            <a:r>
              <a:rPr sz="1250" b="1">
                <a:solidFill>
                  <a:srgbClr val="9AA6BC"/>
                </a:solidFill>
                <a:latin typeface="Menlo"/>
              </a:rPr>
              <a:t>ISP: </a:t>
            </a:r>
            <a:r>
              <a:rPr sz="1250" b="0">
                <a:solidFill>
                  <a:srgbClr val="E7ECF5"/>
                </a:solidFill>
                <a:latin typeface="Menlo"/>
              </a:rPr>
              <a:t>(repeats the offer)</a:t>
            </a:r>
          </a:p>
          <a:p>
            <a:pPr algn="l">
              <a:spcAft>
                <a:spcPts val="700"/>
              </a:spcAft>
            </a:pPr>
            <a:r>
              <a:rPr sz="1250" b="1">
                <a:solidFill>
                  <a:srgbClr val="F0A83C"/>
                </a:solidFill>
                <a:latin typeface="Menlo"/>
              </a:rPr>
              <a:t>Agent: </a:t>
            </a:r>
            <a:r>
              <a:rPr sz="1250" b="0">
                <a:solidFill>
                  <a:srgbClr val="E7ECF5"/>
                </a:solidFill>
                <a:latin typeface="Menlo"/>
              </a:rPr>
              <a:t>I'd like to speak with a representative, please.</a:t>
            </a:r>
          </a:p>
          <a:p>
            <a:pPr algn="l">
              <a:spcAft>
                <a:spcPts val="700"/>
              </a:spcAft>
            </a:pPr>
            <a:r>
              <a:rPr sz="1250" b="1">
                <a:solidFill>
                  <a:srgbClr val="9AA6BC"/>
                </a:solidFill>
                <a:latin typeface="Menlo"/>
              </a:rPr>
              <a:t>ISP: </a:t>
            </a:r>
            <a:r>
              <a:rPr sz="1250" b="0">
                <a:solidFill>
                  <a:srgbClr val="E7ECF5"/>
                </a:solidFill>
                <a:latin typeface="Menlo"/>
              </a:rPr>
              <a:t>One moment, connecting you to tech support.</a:t>
            </a:r>
          </a:p>
          <a:p>
            <a:pPr algn="l">
              <a:spcAft>
                <a:spcPts val="700"/>
              </a:spcAft>
            </a:pPr>
            <a:r>
              <a:rPr sz="1250" b="1">
                <a:solidFill>
                  <a:srgbClr val="9AA6BC"/>
                </a:solidFill>
                <a:latin typeface="Menlo"/>
              </a:rPr>
              <a:t>ISP: </a:t>
            </a:r>
            <a:r>
              <a:rPr sz="1250" b="0">
                <a:solidFill>
                  <a:srgbClr val="E7ECF5"/>
                </a:solidFill>
                <a:latin typeface="Menlo"/>
              </a:rPr>
              <a:t>Hi, this is technical support. How can I help?</a:t>
            </a:r>
          </a:p>
          <a:p>
            <a:pPr algn="l">
              <a:spcAft>
                <a:spcPts val="700"/>
              </a:spcAft>
            </a:pPr>
            <a:r>
              <a:rPr sz="1250" b="1">
                <a:solidFill>
                  <a:srgbClr val="F0A83C"/>
                </a:solidFill>
                <a:latin typeface="Menlo"/>
              </a:rPr>
              <a:t>Agent: </a:t>
            </a:r>
            <a:r>
              <a:rPr sz="1250" b="0">
                <a:solidFill>
                  <a:srgbClr val="E7ECF5"/>
                </a:solidFill>
                <a:latin typeface="Menlo"/>
              </a:rPr>
              <a:t>Is there a known outage? Reason, ETA, ticket #?</a:t>
            </a:r>
          </a:p>
          <a:p>
            <a:pPr algn="l">
              <a:spcAft>
                <a:spcPts val="700"/>
              </a:spcAft>
            </a:pPr>
            <a:r>
              <a:rPr sz="1250" b="1">
                <a:solidFill>
                  <a:srgbClr val="9AA6BC"/>
                </a:solidFill>
                <a:latin typeface="Menlo"/>
              </a:rPr>
              <a:t>ISP: </a:t>
            </a:r>
            <a:r>
              <a:rPr sz="1250" b="0">
                <a:solidFill>
                  <a:srgbClr val="E7ECF5"/>
                </a:solidFill>
                <a:latin typeface="Menlo"/>
              </a:rPr>
              <a:t>Fiber cut. ETA 7 PM. Ticket 99887.</a:t>
            </a:r>
          </a:p>
        </p:txBody>
      </p:sp>
      <p:sp>
        <p:nvSpPr>
          <p:cNvPr id="6" name="Rectangle 5"/>
          <p:cNvSpPr/>
          <p:nvPr/>
        </p:nvSpPr>
        <p:spPr>
          <a:xfrm>
            <a:off x="8001000" y="1828800"/>
            <a:ext cx="3429000" cy="4480560"/>
          </a:xfrm>
          <a:prstGeom prst="rect">
            <a:avLst/>
          </a:prstGeom>
          <a:solidFill>
            <a:srgbClr val="121A28"/>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79" y="2011680"/>
            <a:ext cx="3108960" cy="4114800"/>
          </a:xfrm>
          <a:prstGeom prst="rect">
            <a:avLst/>
          </a:prstGeom>
          <a:noFill/>
        </p:spPr>
        <p:txBody>
          <a:bodyPr wrap="square">
            <a:spAutoFit/>
          </a:bodyPr>
          <a:lstStyle/>
          <a:p>
            <a:pPr algn="l">
              <a:spcAft>
                <a:spcPts val="1000"/>
              </a:spcAft>
            </a:pPr>
            <a:r>
              <a:rPr sz="1200" b="1">
                <a:solidFill>
                  <a:srgbClr val="9AA6BC"/>
                </a:solidFill>
              </a:rPr>
              <a:t>STRUCTURED REPORT</a:t>
            </a:r>
          </a:p>
          <a:p>
            <a:pPr algn="l">
              <a:spcAft>
                <a:spcPts val="100"/>
              </a:spcAft>
            </a:pPr>
            <a:r>
              <a:rPr sz="1100" b="0">
                <a:solidFill>
                  <a:srgbClr val="9AA6BC"/>
                </a:solidFill>
              </a:rPr>
              <a:t>OUTCOME</a:t>
            </a:r>
          </a:p>
          <a:p>
            <a:pPr algn="l">
              <a:spcAft>
                <a:spcPts val="1000"/>
              </a:spcAft>
            </a:pPr>
            <a:r>
              <a:rPr sz="1500" b="1">
                <a:solidFill>
                  <a:srgbClr val="E7ECF5"/>
                </a:solidFill>
              </a:rPr>
              <a:t>Outage confirmed — ETA</a:t>
            </a:r>
          </a:p>
          <a:p>
            <a:pPr algn="l">
              <a:spcAft>
                <a:spcPts val="100"/>
              </a:spcAft>
            </a:pPr>
            <a:r>
              <a:rPr sz="1100" b="0">
                <a:solidFill>
                  <a:srgbClr val="9AA6BC"/>
                </a:solidFill>
              </a:rPr>
              <a:t>REASON</a:t>
            </a:r>
          </a:p>
          <a:p>
            <a:pPr algn="l">
              <a:spcAft>
                <a:spcPts val="1000"/>
              </a:spcAft>
            </a:pPr>
            <a:r>
              <a:rPr sz="1500" b="1">
                <a:solidFill>
                  <a:srgbClr val="E7ECF5"/>
                </a:solidFill>
              </a:rPr>
              <a:t>Fiber cut</a:t>
            </a:r>
          </a:p>
          <a:p>
            <a:pPr algn="l">
              <a:spcAft>
                <a:spcPts val="100"/>
              </a:spcAft>
            </a:pPr>
            <a:r>
              <a:rPr sz="1100" b="0">
                <a:solidFill>
                  <a:srgbClr val="9AA6BC"/>
                </a:solidFill>
              </a:rPr>
              <a:t>ETA</a:t>
            </a:r>
          </a:p>
          <a:p>
            <a:pPr algn="l">
              <a:spcAft>
                <a:spcPts val="1000"/>
              </a:spcAft>
            </a:pPr>
            <a:r>
              <a:rPr sz="1500" b="1">
                <a:solidFill>
                  <a:srgbClr val="E7ECF5"/>
                </a:solidFill>
              </a:rPr>
              <a:t>7 PM today</a:t>
            </a:r>
          </a:p>
          <a:p>
            <a:pPr algn="l">
              <a:spcAft>
                <a:spcPts val="100"/>
              </a:spcAft>
            </a:pPr>
            <a:r>
              <a:rPr sz="1100" b="0">
                <a:solidFill>
                  <a:srgbClr val="9AA6BC"/>
                </a:solidFill>
              </a:rPr>
              <a:t>REFERENCE #</a:t>
            </a:r>
          </a:p>
          <a:p>
            <a:pPr algn="l">
              <a:spcAft>
                <a:spcPts val="1000"/>
              </a:spcAft>
            </a:pPr>
            <a:r>
              <a:rPr sz="1500" b="1">
                <a:solidFill>
                  <a:srgbClr val="E7ECF5"/>
                </a:solidFill>
              </a:rPr>
              <a:t>99887</a:t>
            </a:r>
          </a:p>
          <a:p>
            <a:pPr algn="l">
              <a:spcAft>
                <a:spcPts val="100"/>
              </a:spcAft>
            </a:pPr>
            <a:r>
              <a:rPr sz="1100" b="0">
                <a:solidFill>
                  <a:srgbClr val="9AA6BC"/>
                </a:solidFill>
              </a:rPr>
              <a:t>RESPONDER</a:t>
            </a:r>
          </a:p>
          <a:p>
            <a:pPr algn="l">
              <a:spcAft>
                <a:spcPts val="1000"/>
              </a:spcAft>
            </a:pPr>
            <a:r>
              <a:rPr sz="1500" b="1">
                <a:solidFill>
                  <a:srgbClr val="E7ECF5"/>
                </a:solidFill>
              </a:rPr>
              <a:t>Human (rep)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EXAMPLE 3  ·  THE SHOWCASE</a:t>
            </a:r>
          </a:p>
          <a:p>
            <a:pPr algn="l">
              <a:spcAft>
                <a:spcPts val="800"/>
              </a:spcAft>
            </a:pPr>
            <a:r>
              <a:rPr sz="3200" b="1">
                <a:solidFill>
                  <a:srgbClr val="E7ECF5"/>
                </a:solidFill>
              </a:rPr>
              <a:t>Hard conversational — the gauntlet</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7040880" cy="4480560"/>
          </a:xfrm>
          <a:prstGeom prst="rect">
            <a:avLst/>
          </a:prstGeom>
          <a:solidFill>
            <a:srgbClr val="161E2C"/>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6675120" cy="4206240"/>
          </a:xfrm>
          <a:prstGeom prst="rect">
            <a:avLst/>
          </a:prstGeom>
          <a:noFill/>
        </p:spPr>
        <p:txBody>
          <a:bodyPr wrap="square">
            <a:spAutoFit/>
          </a:bodyPr>
          <a:lstStyle/>
          <a:p>
            <a:pPr algn="l">
              <a:spcAft>
                <a:spcPts val="800"/>
              </a:spcAft>
            </a:pPr>
            <a:r>
              <a:rPr sz="1200" b="1">
                <a:solidFill>
                  <a:srgbClr val="9AA6BC"/>
                </a:solidFill>
              </a:rPr>
              <a:t>TRANSCRIPT (excerpt)</a:t>
            </a:r>
          </a:p>
          <a:p>
            <a:pPr algn="l">
              <a:spcAft>
                <a:spcPts val="700"/>
              </a:spcAft>
            </a:pPr>
            <a:r>
              <a:rPr sz="1250" b="1">
                <a:solidFill>
                  <a:srgbClr val="9AA6BC"/>
                </a:solidFill>
                <a:latin typeface="Menlo"/>
              </a:rPr>
              <a:t>ISP: </a:t>
            </a:r>
            <a:r>
              <a:rPr sz="1250" b="0">
                <a:solidFill>
                  <a:srgbClr val="E7ECF5"/>
                </a:solidFill>
                <a:latin typeface="Menlo"/>
              </a:rPr>
              <a:t>Which service — internet, TV, or phone?</a:t>
            </a:r>
          </a:p>
          <a:p>
            <a:pPr algn="l">
              <a:spcAft>
                <a:spcPts val="700"/>
              </a:spcAft>
            </a:pPr>
            <a:r>
              <a:rPr sz="1250" b="1">
                <a:solidFill>
                  <a:srgbClr val="F0A83C"/>
                </a:solidFill>
                <a:latin typeface="Menlo"/>
              </a:rPr>
              <a:t>Agent: </a:t>
            </a:r>
            <a:r>
              <a:rPr sz="1250" b="0">
                <a:solidFill>
                  <a:srgbClr val="E7ECF5"/>
                </a:solidFill>
                <a:latin typeface="Menlo"/>
              </a:rPr>
              <a:t>Internet service.</a:t>
            </a:r>
          </a:p>
          <a:p>
            <a:pPr algn="l">
              <a:spcAft>
                <a:spcPts val="700"/>
              </a:spcAft>
            </a:pPr>
            <a:r>
              <a:rPr sz="1250" b="1">
                <a:solidFill>
                  <a:srgbClr val="9AA6BC"/>
                </a:solidFill>
                <a:latin typeface="Menlo"/>
              </a:rPr>
              <a:t>ISP: </a:t>
            </a:r>
            <a:r>
              <a:rPr sz="1250" b="0">
                <a:solidFill>
                  <a:srgbClr val="E7ECF5"/>
                </a:solidFill>
                <a:latin typeface="Menlo"/>
              </a:rPr>
              <a:t>Can I text you the link?  (x2)</a:t>
            </a:r>
          </a:p>
          <a:p>
            <a:pPr algn="l">
              <a:spcAft>
                <a:spcPts val="700"/>
              </a:spcAft>
            </a:pPr>
            <a:r>
              <a:rPr sz="1250" b="1">
                <a:solidFill>
                  <a:srgbClr val="F0A83C"/>
                </a:solidFill>
                <a:latin typeface="Menlo"/>
              </a:rPr>
              <a:t>Agent: </a:t>
            </a:r>
            <a:r>
              <a:rPr sz="1250" b="0">
                <a:solidFill>
                  <a:srgbClr val="E7ECF5"/>
                </a:solidFill>
                <a:latin typeface="Menlo"/>
              </a:rPr>
              <a:t>No thank you — connect me to a rep, please.</a:t>
            </a:r>
          </a:p>
          <a:p>
            <a:pPr algn="l">
              <a:spcAft>
                <a:spcPts val="700"/>
              </a:spcAft>
            </a:pPr>
            <a:r>
              <a:rPr sz="1250" b="1">
                <a:solidFill>
                  <a:srgbClr val="9AA6BC"/>
                </a:solidFill>
                <a:latin typeface="Menlo"/>
              </a:rPr>
              <a:t>ISP: </a:t>
            </a:r>
            <a:r>
              <a:rPr sz="1250" b="0">
                <a:solidFill>
                  <a:srgbClr val="E7ECF5"/>
                </a:solidFill>
                <a:latin typeface="Menlo"/>
              </a:rPr>
              <a:t>First, verify: account number?</a:t>
            </a:r>
          </a:p>
          <a:p>
            <a:pPr algn="l">
              <a:spcAft>
                <a:spcPts val="700"/>
              </a:spcAft>
            </a:pPr>
            <a:r>
              <a:rPr sz="1250" b="1">
                <a:solidFill>
                  <a:srgbClr val="F0A83C"/>
                </a:solidFill>
                <a:latin typeface="Menlo"/>
              </a:rPr>
              <a:t>Agent: </a:t>
            </a:r>
            <a:r>
              <a:rPr sz="1250" b="0">
                <a:solidFill>
                  <a:srgbClr val="E7ECF5"/>
                </a:solidFill>
                <a:latin typeface="Menlo"/>
              </a:rPr>
              <a:t>1234567890.</a:t>
            </a:r>
          </a:p>
          <a:p>
            <a:pPr algn="l">
              <a:spcAft>
                <a:spcPts val="700"/>
              </a:spcAft>
            </a:pPr>
            <a:r>
              <a:rPr sz="1250" b="1">
                <a:solidFill>
                  <a:srgbClr val="9AA6BC"/>
                </a:solidFill>
                <a:latin typeface="Menlo"/>
              </a:rPr>
              <a:t>ISP: </a:t>
            </a:r>
            <a:r>
              <a:rPr sz="1250" b="0">
                <a:solidFill>
                  <a:srgbClr val="E7ECF5"/>
                </a:solidFill>
                <a:latin typeface="Menlo"/>
              </a:rPr>
              <a:t>PIN?</a:t>
            </a:r>
          </a:p>
          <a:p>
            <a:pPr algn="l">
              <a:spcAft>
                <a:spcPts val="700"/>
              </a:spcAft>
            </a:pPr>
            <a:r>
              <a:rPr sz="1250" b="1">
                <a:solidFill>
                  <a:srgbClr val="F0A83C"/>
                </a:solidFill>
                <a:latin typeface="Menlo"/>
              </a:rPr>
              <a:t>Agent: </a:t>
            </a:r>
            <a:r>
              <a:rPr sz="1250" b="0">
                <a:solidFill>
                  <a:srgbClr val="E7ECF5"/>
                </a:solidFill>
                <a:latin typeface="Menlo"/>
              </a:rPr>
              <a:t>4321.</a:t>
            </a:r>
          </a:p>
          <a:p>
            <a:pPr algn="l">
              <a:spcAft>
                <a:spcPts val="700"/>
              </a:spcAft>
            </a:pPr>
            <a:r>
              <a:rPr sz="1250" b="1">
                <a:solidFill>
                  <a:srgbClr val="9AA6BC"/>
                </a:solidFill>
                <a:latin typeface="Menlo"/>
              </a:rPr>
              <a:t>ISP: </a:t>
            </a:r>
            <a:r>
              <a:rPr sz="1250" b="0">
                <a:solidFill>
                  <a:srgbClr val="E7ECF5"/>
                </a:solidFill>
                <a:latin typeface="Menlo"/>
              </a:rPr>
              <a:t>Confirm the address?</a:t>
            </a:r>
          </a:p>
          <a:p>
            <a:pPr algn="l">
              <a:spcAft>
                <a:spcPts val="700"/>
              </a:spcAft>
            </a:pPr>
            <a:r>
              <a:rPr sz="1250" b="1">
                <a:solidFill>
                  <a:srgbClr val="F0A83C"/>
                </a:solidFill>
                <a:latin typeface="Menlo"/>
              </a:rPr>
              <a:t>Agent: </a:t>
            </a:r>
            <a:r>
              <a:rPr sz="1250" b="0">
                <a:solidFill>
                  <a:srgbClr val="E7ECF5"/>
                </a:solidFill>
                <a:latin typeface="Menlo"/>
              </a:rPr>
              <a:t>2727 Linden, Dallas 75234.</a:t>
            </a:r>
          </a:p>
          <a:p>
            <a:pPr algn="l">
              <a:spcAft>
                <a:spcPts val="700"/>
              </a:spcAft>
            </a:pPr>
            <a:r>
              <a:rPr sz="1250" b="1">
                <a:solidFill>
                  <a:srgbClr val="9AA6BC"/>
                </a:solidFill>
                <a:latin typeface="Menlo"/>
              </a:rPr>
              <a:t>ISP: </a:t>
            </a:r>
            <a:r>
              <a:rPr sz="1250" b="0">
                <a:solidFill>
                  <a:srgbClr val="E7ECF5"/>
                </a:solidFill>
                <a:latin typeface="Menlo"/>
              </a:rPr>
              <a:t>Hold or callback?</a:t>
            </a:r>
          </a:p>
          <a:p>
            <a:pPr algn="l">
              <a:spcAft>
                <a:spcPts val="700"/>
              </a:spcAft>
            </a:pPr>
            <a:r>
              <a:rPr sz="1250" b="1">
                <a:solidFill>
                  <a:srgbClr val="F0A83C"/>
                </a:solidFill>
                <a:latin typeface="Menlo"/>
              </a:rPr>
              <a:t>Agent: </a:t>
            </a:r>
            <a:r>
              <a:rPr sz="1250" b="0">
                <a:solidFill>
                  <a:srgbClr val="E7ECF5"/>
                </a:solidFill>
                <a:latin typeface="Menlo"/>
              </a:rPr>
              <a:t>I'll hold.</a:t>
            </a:r>
          </a:p>
          <a:p>
            <a:pPr algn="l">
              <a:spcAft>
                <a:spcPts val="700"/>
              </a:spcAft>
            </a:pPr>
            <a:r>
              <a:rPr sz="1250" b="1">
                <a:solidFill>
                  <a:srgbClr val="9AA6BC"/>
                </a:solidFill>
                <a:latin typeface="Menlo"/>
              </a:rPr>
              <a:t>ISP: </a:t>
            </a:r>
            <a:r>
              <a:rPr sz="1250" b="0">
                <a:solidFill>
                  <a:srgbClr val="E7ECF5"/>
                </a:solidFill>
                <a:latin typeface="Menlo"/>
              </a:rPr>
              <a:t>Damaged fiber line. ETA 8 PM. Ticket 55432.</a:t>
            </a:r>
          </a:p>
        </p:txBody>
      </p:sp>
      <p:sp>
        <p:nvSpPr>
          <p:cNvPr id="6" name="Rectangle 5"/>
          <p:cNvSpPr/>
          <p:nvPr/>
        </p:nvSpPr>
        <p:spPr>
          <a:xfrm>
            <a:off x="8001000" y="1828800"/>
            <a:ext cx="3429000" cy="4480560"/>
          </a:xfrm>
          <a:prstGeom prst="rect">
            <a:avLst/>
          </a:prstGeom>
          <a:solidFill>
            <a:srgbClr val="121A28"/>
          </a:solidFill>
          <a:ln w="12700">
            <a:solidFill>
              <a:srgbClr val="2A3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79" y="2011680"/>
            <a:ext cx="3108960" cy="4114800"/>
          </a:xfrm>
          <a:prstGeom prst="rect">
            <a:avLst/>
          </a:prstGeom>
          <a:noFill/>
        </p:spPr>
        <p:txBody>
          <a:bodyPr wrap="square">
            <a:spAutoFit/>
          </a:bodyPr>
          <a:lstStyle/>
          <a:p>
            <a:pPr algn="l">
              <a:spcAft>
                <a:spcPts val="1000"/>
              </a:spcAft>
            </a:pPr>
            <a:r>
              <a:rPr sz="1200" b="1">
                <a:solidFill>
                  <a:srgbClr val="9AA6BC"/>
                </a:solidFill>
              </a:rPr>
              <a:t>STRUCTURED REPORT</a:t>
            </a:r>
          </a:p>
          <a:p>
            <a:pPr algn="l">
              <a:spcAft>
                <a:spcPts val="100"/>
              </a:spcAft>
            </a:pPr>
            <a:r>
              <a:rPr sz="1100" b="0">
                <a:solidFill>
                  <a:srgbClr val="9AA6BC"/>
                </a:solidFill>
              </a:rPr>
              <a:t>OUTCOME</a:t>
            </a:r>
          </a:p>
          <a:p>
            <a:pPr algn="l">
              <a:spcAft>
                <a:spcPts val="1000"/>
              </a:spcAft>
            </a:pPr>
            <a:r>
              <a:rPr sz="1500" b="1">
                <a:solidFill>
                  <a:srgbClr val="E7ECF5"/>
                </a:solidFill>
              </a:rPr>
              <a:t>Outage confirmed — ETA</a:t>
            </a:r>
          </a:p>
          <a:p>
            <a:pPr algn="l">
              <a:spcAft>
                <a:spcPts val="100"/>
              </a:spcAft>
            </a:pPr>
            <a:r>
              <a:rPr sz="1100" b="0">
                <a:solidFill>
                  <a:srgbClr val="9AA6BC"/>
                </a:solidFill>
              </a:rPr>
              <a:t>REASON</a:t>
            </a:r>
          </a:p>
          <a:p>
            <a:pPr algn="l">
              <a:spcAft>
                <a:spcPts val="1000"/>
              </a:spcAft>
            </a:pPr>
            <a:r>
              <a:rPr sz="1500" b="1">
                <a:solidFill>
                  <a:srgbClr val="E7ECF5"/>
                </a:solidFill>
              </a:rPr>
              <a:t>Damaged fiber line</a:t>
            </a:r>
          </a:p>
          <a:p>
            <a:pPr algn="l">
              <a:spcAft>
                <a:spcPts val="100"/>
              </a:spcAft>
            </a:pPr>
            <a:r>
              <a:rPr sz="1100" b="0">
                <a:solidFill>
                  <a:srgbClr val="9AA6BC"/>
                </a:solidFill>
              </a:rPr>
              <a:t>ETA</a:t>
            </a:r>
          </a:p>
          <a:p>
            <a:pPr algn="l">
              <a:spcAft>
                <a:spcPts val="1000"/>
              </a:spcAft>
            </a:pPr>
            <a:r>
              <a:rPr sz="1500" b="1">
                <a:solidFill>
                  <a:srgbClr val="E7ECF5"/>
                </a:solidFill>
              </a:rPr>
              <a:t>8 PM today</a:t>
            </a:r>
          </a:p>
          <a:p>
            <a:pPr algn="l">
              <a:spcAft>
                <a:spcPts val="100"/>
              </a:spcAft>
            </a:pPr>
            <a:r>
              <a:rPr sz="1100" b="0">
                <a:solidFill>
                  <a:srgbClr val="9AA6BC"/>
                </a:solidFill>
              </a:rPr>
              <a:t>REFERENCE #</a:t>
            </a:r>
          </a:p>
          <a:p>
            <a:pPr algn="l">
              <a:spcAft>
                <a:spcPts val="1000"/>
              </a:spcAft>
            </a:pPr>
            <a:r>
              <a:rPr sz="1500" b="1">
                <a:solidFill>
                  <a:srgbClr val="E7ECF5"/>
                </a:solidFill>
              </a:rPr>
              <a:t>55432</a:t>
            </a:r>
          </a:p>
          <a:p>
            <a:pPr algn="l">
              <a:spcAft>
                <a:spcPts val="100"/>
              </a:spcAft>
            </a:pPr>
            <a:r>
              <a:rPr sz="1100" b="0">
                <a:solidFill>
                  <a:srgbClr val="9AA6BC"/>
                </a:solidFill>
              </a:rPr>
              <a:t>RESPONDER</a:t>
            </a:r>
          </a:p>
          <a:p>
            <a:pPr algn="l">
              <a:spcAft>
                <a:spcPts val="1000"/>
              </a:spcAft>
            </a:pPr>
            <a:r>
              <a:rPr sz="1500" b="1">
                <a:solidFill>
                  <a:srgbClr val="E7ECF5"/>
                </a:solidFill>
              </a:rPr>
              <a:t>Human (rep)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REAL RECORDING</a:t>
            </a:r>
          </a:p>
          <a:p>
            <a:pPr algn="l">
              <a:spcAft>
                <a:spcPts val="800"/>
              </a:spcAft>
            </a:pPr>
            <a:r>
              <a:rPr sz="3200" b="1">
                <a:solidFill>
                  <a:srgbClr val="E7ECF5"/>
                </a:solidFill>
              </a:rPr>
              <a:t>Listen — the hard gauntlet call</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gauntlet-recording.wav">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22960" y="2011680"/>
            <a:ext cx="5120640" cy="2880360"/>
          </a:xfrm>
          <a:prstGeom prst="rect">
            <a:avLst/>
          </a:prstGeom>
        </p:spPr>
      </p:pic>
      <p:sp>
        <p:nvSpPr>
          <p:cNvPr id="5" name="TextBox 4"/>
          <p:cNvSpPr txBox="1"/>
          <p:nvPr/>
        </p:nvSpPr>
        <p:spPr>
          <a:xfrm>
            <a:off x="6309360" y="2103120"/>
            <a:ext cx="5120640" cy="4023360"/>
          </a:xfrm>
          <a:prstGeom prst="rect">
            <a:avLst/>
          </a:prstGeom>
          <a:noFill/>
        </p:spPr>
        <p:txBody>
          <a:bodyPr wrap="square">
            <a:spAutoFit/>
          </a:bodyPr>
          <a:lstStyle/>
          <a:p>
            <a:pPr algn="l">
              <a:spcAft>
                <a:spcPts val="1800"/>
              </a:spcAft>
            </a:pPr>
            <a:r>
              <a:rPr sz="2000" b="0">
                <a:solidFill>
                  <a:srgbClr val="E7ECF5"/>
                </a:solidFill>
              </a:rPr>
              <a:t>~3.5 minutes  ·  your agent vs. a hard AT&amp;T-style bot.</a:t>
            </a:r>
          </a:p>
          <a:p>
            <a:pPr algn="l">
              <a:spcAft>
                <a:spcPts val="1100"/>
              </a:spcAft>
            </a:pPr>
            <a:r>
              <a:rPr sz="1600" b="1">
                <a:solidFill>
                  <a:srgbClr val="F0A83C"/>
                </a:solidFill>
              </a:rPr>
              <a:t>•  </a:t>
            </a:r>
            <a:r>
              <a:rPr sz="1600" b="0">
                <a:solidFill>
                  <a:srgbClr val="9AA6BC"/>
                </a:solidFill>
              </a:rPr>
              <a:t>Pushes past a double "can I text you?" deflection.</a:t>
            </a:r>
          </a:p>
          <a:p>
            <a:pPr algn="l">
              <a:spcAft>
                <a:spcPts val="1100"/>
              </a:spcAft>
            </a:pPr>
            <a:r>
              <a:rPr sz="1600" b="1">
                <a:solidFill>
                  <a:srgbClr val="F0A83C"/>
                </a:solidFill>
              </a:rPr>
              <a:t>•  </a:t>
            </a:r>
            <a:r>
              <a:rPr sz="1600" b="0">
                <a:solidFill>
                  <a:srgbClr val="9AA6BC"/>
                </a:solidFill>
              </a:rPr>
              <a:t>Passes the verification gauntlet (account #, PIN, address).</a:t>
            </a:r>
          </a:p>
          <a:p>
            <a:pPr algn="l">
              <a:spcAft>
                <a:spcPts val="1100"/>
              </a:spcAft>
            </a:pPr>
            <a:r>
              <a:rPr sz="1600" b="1">
                <a:solidFill>
                  <a:srgbClr val="F0A83C"/>
                </a:solidFill>
              </a:rPr>
              <a:t>•  </a:t>
            </a:r>
            <a:r>
              <a:rPr sz="1600" b="0">
                <a:solidFill>
                  <a:srgbClr val="9AA6BC"/>
                </a:solidFill>
              </a:rPr>
              <a:t>Holds for a rep, then extracts the outage facts.</a:t>
            </a:r>
          </a:p>
          <a:p>
            <a:pPr algn="l">
              <a:spcAft>
                <a:spcPts val="1100"/>
              </a:spcAft>
            </a:pPr>
            <a:r>
              <a:rPr sz="1600" b="1">
                <a:solidFill>
                  <a:srgbClr val="F0A83C"/>
                </a:solidFill>
              </a:rPr>
              <a:t>•  </a:t>
            </a:r>
            <a:r>
              <a:rPr sz="1600" b="0">
                <a:solidFill>
                  <a:srgbClr val="9AA6BC"/>
                </a:solidFill>
              </a:rPr>
              <a:t>Hangs up cleanly — no loop.</a:t>
            </a:r>
          </a:p>
          <a:p>
            <a:pPr algn="l">
              <a:spcAft>
                <a:spcPts val="400"/>
              </a:spcAft>
            </a:pPr>
            <a:r>
              <a:rPr sz="1300" b="0">
                <a:solidFill>
                  <a:srgbClr val="F0A83C"/>
                </a:solidFill>
              </a:rPr>
              <a:t>(Press play in PowerPoint / Keynote.)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COMPLETE RECORD</a:t>
            </a:r>
          </a:p>
          <a:p>
            <a:pPr algn="l">
              <a:spcAft>
                <a:spcPts val="800"/>
              </a:spcAft>
            </a:pPr>
            <a:r>
              <a:rPr sz="3200" b="1">
                <a:solidFill>
                  <a:srgbClr val="E7ECF5"/>
                </a:solidFill>
              </a:rPr>
              <a:t>Full transcript — the gauntlet call</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83080"/>
            <a:ext cx="5486400" cy="4754880"/>
          </a:xfrm>
          <a:prstGeom prst="rect">
            <a:avLst/>
          </a:prstGeom>
          <a:noFill/>
        </p:spPr>
        <p:txBody>
          <a:bodyPr wrap="square">
            <a:spAutoFit/>
          </a:bodyPr>
          <a:lstStyle/>
          <a:p>
            <a:pPr algn="l">
              <a:spcAft>
                <a:spcPts val="500"/>
              </a:spcAft>
            </a:pPr>
            <a:r>
              <a:rPr sz="1050" b="1">
                <a:solidFill>
                  <a:srgbClr val="F0A83C"/>
                </a:solidFill>
                <a:latin typeface="Menlo"/>
              </a:rPr>
              <a:t>Agent: </a:t>
            </a:r>
            <a:r>
              <a:rPr sz="1050" b="0">
                <a:solidFill>
                  <a:srgbClr val="E7ECF5"/>
                </a:solidFill>
                <a:latin typeface="Menlo"/>
              </a:rPr>
              <a:t>Hi. I'm calling about a business Internet outage.</a:t>
            </a:r>
          </a:p>
          <a:p>
            <a:pPr algn="l">
              <a:spcAft>
                <a:spcPts val="500"/>
              </a:spcAft>
            </a:pPr>
            <a:r>
              <a:rPr sz="1050" b="1">
                <a:solidFill>
                  <a:srgbClr val="9AA6BC"/>
                </a:solidFill>
                <a:latin typeface="Menlo"/>
              </a:rPr>
              <a:t>ISP: </a:t>
            </a:r>
            <a:r>
              <a:rPr sz="1050" b="0">
                <a:solidFill>
                  <a:srgbClr val="E7ECF5"/>
                </a:solidFill>
                <a:latin typeface="Menlo"/>
              </a:rPr>
              <a:t>Hello?</a:t>
            </a:r>
          </a:p>
          <a:p>
            <a:pPr algn="l">
              <a:spcAft>
                <a:spcPts val="500"/>
              </a:spcAft>
            </a:pPr>
            <a:r>
              <a:rPr sz="1050" b="1">
                <a:solidFill>
                  <a:srgbClr val="F0A83C"/>
                </a:solidFill>
                <a:latin typeface="Menlo"/>
              </a:rPr>
              <a:t>Agent: </a:t>
            </a:r>
            <a:r>
              <a:rPr sz="1050" b="0">
                <a:solidFill>
                  <a:srgbClr val="E7ECF5"/>
                </a:solidFill>
                <a:latin typeface="Menlo"/>
              </a:rPr>
              <a:t>Hi there. This is John Doe calling on behalf of Vivante Corp. I'm checking on an Internet outage for our location at two seven two seven Linden, Dallas seven five two three four. Could you help me with that?</a:t>
            </a:r>
          </a:p>
          <a:p>
            <a:pPr algn="l">
              <a:spcAft>
                <a:spcPts val="500"/>
              </a:spcAft>
            </a:pPr>
            <a:r>
              <a:rPr sz="1050" b="1">
                <a:solidFill>
                  <a:srgbClr val="9AA6BC"/>
                </a:solidFill>
                <a:latin typeface="Menlo"/>
              </a:rPr>
              <a:t>ISP: </a:t>
            </a:r>
            <a:r>
              <a:rPr sz="1050" b="0">
                <a:solidFill>
                  <a:srgbClr val="E7ECF5"/>
                </a:solidFill>
                <a:latin typeface="Menlo"/>
              </a:rPr>
              <a:t>I'm sorry. Which service are you calling about? Internet, TV, or phone.</a:t>
            </a:r>
          </a:p>
          <a:p>
            <a:pPr algn="l">
              <a:spcAft>
                <a:spcPts val="500"/>
              </a:spcAft>
            </a:pPr>
            <a:r>
              <a:rPr sz="1050" b="1">
                <a:solidFill>
                  <a:srgbClr val="F0A83C"/>
                </a:solidFill>
                <a:latin typeface="Menlo"/>
              </a:rPr>
              <a:t>Agent: </a:t>
            </a:r>
            <a:r>
              <a:rPr sz="1050" b="0">
                <a:solidFill>
                  <a:srgbClr val="E7ECF5"/>
                </a:solidFill>
                <a:latin typeface="Menlo"/>
              </a:rPr>
              <a:t>I'm calling about the Internet service.</a:t>
            </a:r>
          </a:p>
          <a:p>
            <a:pPr algn="l">
              <a:spcAft>
                <a:spcPts val="500"/>
              </a:spcAft>
            </a:pPr>
            <a:r>
              <a:rPr sz="1050" b="1">
                <a:solidFill>
                  <a:srgbClr val="9AA6BC"/>
                </a:solidFill>
                <a:latin typeface="Menlo"/>
              </a:rPr>
              <a:t>ISP: </a:t>
            </a:r>
            <a:r>
              <a:rPr sz="1050" b="0">
                <a:solidFill>
                  <a:srgbClr val="E7ECF5"/>
                </a:solidFill>
                <a:latin typeface="Menlo"/>
              </a:rPr>
              <a:t>Thank you for confirming that. Is this a personal or a business</a:t>
            </a:r>
          </a:p>
          <a:p>
            <a:pPr algn="l">
              <a:spcAft>
                <a:spcPts val="500"/>
              </a:spcAft>
            </a:pPr>
            <a:r>
              <a:rPr sz="1050" b="1">
                <a:solidFill>
                  <a:srgbClr val="F0A83C"/>
                </a:solidFill>
                <a:latin typeface="Menlo"/>
              </a:rPr>
              <a:t>Agent: </a:t>
            </a:r>
            <a:r>
              <a:rPr sz="1050" b="0">
                <a:solidFill>
                  <a:srgbClr val="E7ECF5"/>
                </a:solidFill>
                <a:latin typeface="Menlo"/>
              </a:rPr>
              <a:t>This is a business account.</a:t>
            </a:r>
          </a:p>
          <a:p>
            <a:pPr algn="l">
              <a:spcAft>
                <a:spcPts val="500"/>
              </a:spcAft>
            </a:pPr>
            <a:r>
              <a:rPr sz="1050" b="1">
                <a:solidFill>
                  <a:srgbClr val="9AA6BC"/>
                </a:solidFill>
                <a:latin typeface="Menlo"/>
              </a:rPr>
              <a:t>ISP: </a:t>
            </a:r>
            <a:r>
              <a:rPr sz="1050" b="0">
                <a:solidFill>
                  <a:srgbClr val="E7ECF5"/>
                </a:solidFill>
                <a:latin typeface="Menlo"/>
              </a:rPr>
              <a:t>Got it. You might wanna check for outages online. Can I send you a text with the link?</a:t>
            </a:r>
          </a:p>
          <a:p>
            <a:pPr algn="l">
              <a:spcAft>
                <a:spcPts val="500"/>
              </a:spcAft>
            </a:pPr>
            <a:r>
              <a:rPr sz="1050" b="1">
                <a:solidFill>
                  <a:srgbClr val="F0A83C"/>
                </a:solidFill>
                <a:latin typeface="Menlo"/>
              </a:rPr>
              <a:t>Agent: </a:t>
            </a:r>
            <a:r>
              <a:rPr sz="1050" b="0">
                <a:solidFill>
                  <a:srgbClr val="E7ECF5"/>
                </a:solidFill>
                <a:latin typeface="Menlo"/>
              </a:rPr>
              <a:t>I appreciate the offer, but I would prefer to check on the outage directly with you. Could you help me with that?</a:t>
            </a:r>
          </a:p>
          <a:p>
            <a:pPr algn="l">
              <a:spcAft>
                <a:spcPts val="500"/>
              </a:spcAft>
            </a:pPr>
            <a:r>
              <a:rPr sz="1050" b="1">
                <a:solidFill>
                  <a:srgbClr val="9AA6BC"/>
                </a:solidFill>
                <a:latin typeface="Menlo"/>
              </a:rPr>
              <a:t>ISP: </a:t>
            </a:r>
            <a:r>
              <a:rPr sz="1050" b="0">
                <a:solidFill>
                  <a:srgbClr val="E7ECF5"/>
                </a:solidFill>
                <a:latin typeface="Menlo"/>
              </a:rPr>
              <a:t>Are you sure? it's the fastest way. Can I text you the link?</a:t>
            </a:r>
          </a:p>
          <a:p>
            <a:pPr algn="l">
              <a:spcAft>
                <a:spcPts val="500"/>
              </a:spcAft>
            </a:pPr>
            <a:r>
              <a:rPr sz="1050" b="1">
                <a:solidFill>
                  <a:srgbClr val="F0A83C"/>
                </a:solidFill>
                <a:latin typeface="Menlo"/>
              </a:rPr>
              <a:t>Agent: </a:t>
            </a:r>
            <a:r>
              <a:rPr sz="1050" b="0">
                <a:solidFill>
                  <a:srgbClr val="E7ECF5"/>
                </a:solidFill>
                <a:latin typeface="Menlo"/>
              </a:rPr>
              <a:t>Thank you. But I would really like to speak with a representative about the outage. Could you assist me with that?</a:t>
            </a:r>
          </a:p>
          <a:p>
            <a:pPr algn="l">
              <a:spcAft>
                <a:spcPts val="500"/>
              </a:spcAft>
            </a:pPr>
            <a:r>
              <a:rPr sz="1050" b="1">
                <a:solidFill>
                  <a:srgbClr val="9AA6BC"/>
                </a:solidFill>
                <a:latin typeface="Menlo"/>
              </a:rPr>
              <a:t>ISP: </a:t>
            </a:r>
            <a:r>
              <a:rPr sz="1050" b="0">
                <a:solidFill>
                  <a:srgbClr val="E7ECF5"/>
                </a:solidFill>
                <a:latin typeface="Menlo"/>
              </a:rPr>
              <a:t>Sure. I can help you with that. First, I need to verify a few details before I can provide any outage information. Can I get the account number on the account?</a:t>
            </a:r>
          </a:p>
          <a:p>
            <a:pPr algn="l">
              <a:spcAft>
                <a:spcPts val="500"/>
              </a:spcAft>
            </a:pPr>
            <a:r>
              <a:rPr sz="1050" b="1">
                <a:solidFill>
                  <a:srgbClr val="F0A83C"/>
                </a:solidFill>
                <a:latin typeface="Menlo"/>
              </a:rPr>
              <a:t>Agent: </a:t>
            </a:r>
            <a:r>
              <a:rPr sz="1050" b="0">
                <a:solidFill>
                  <a:srgbClr val="E7ECF5"/>
                </a:solidFill>
                <a:latin typeface="Menlo"/>
              </a:rPr>
              <a:t>Yes. The account number is one two three four five six seven eight nine zero.</a:t>
            </a:r>
          </a:p>
          <a:p>
            <a:pPr algn="l">
              <a:spcAft>
                <a:spcPts val="500"/>
              </a:spcAft>
            </a:pPr>
            <a:r>
              <a:rPr sz="1050" b="1">
                <a:solidFill>
                  <a:srgbClr val="9AA6BC"/>
                </a:solidFill>
                <a:latin typeface="Menlo"/>
              </a:rPr>
              <a:t>ISP: </a:t>
            </a:r>
            <a:r>
              <a:rPr sz="1050" b="0">
                <a:solidFill>
                  <a:srgbClr val="E7ECF5"/>
                </a:solidFill>
                <a:latin typeface="Menlo"/>
              </a:rPr>
              <a:t>Thank you. And the security PIN or the phone number on the account.</a:t>
            </a:r>
          </a:p>
        </p:txBody>
      </p:sp>
      <p:sp>
        <p:nvSpPr>
          <p:cNvPr id="5" name="TextBox 4"/>
          <p:cNvSpPr txBox="1"/>
          <p:nvPr/>
        </p:nvSpPr>
        <p:spPr>
          <a:xfrm>
            <a:off x="6355080" y="1783080"/>
            <a:ext cx="5486400" cy="4754880"/>
          </a:xfrm>
          <a:prstGeom prst="rect">
            <a:avLst/>
          </a:prstGeom>
          <a:noFill/>
        </p:spPr>
        <p:txBody>
          <a:bodyPr wrap="square">
            <a:spAutoFit/>
          </a:bodyPr>
          <a:lstStyle/>
          <a:p>
            <a:pPr algn="l">
              <a:spcAft>
                <a:spcPts val="500"/>
              </a:spcAft>
            </a:pPr>
            <a:r>
              <a:rPr sz="1050" b="1">
                <a:solidFill>
                  <a:srgbClr val="F0A83C"/>
                </a:solidFill>
                <a:latin typeface="Menlo"/>
              </a:rPr>
              <a:t>Agent: </a:t>
            </a:r>
            <a:r>
              <a:rPr sz="1050" b="0">
                <a:solidFill>
                  <a:srgbClr val="E7ECF5"/>
                </a:solidFill>
                <a:latin typeface="Menlo"/>
              </a:rPr>
              <a:t>The pin is four three two one.</a:t>
            </a:r>
          </a:p>
          <a:p>
            <a:pPr algn="l">
              <a:spcAft>
                <a:spcPts val="500"/>
              </a:spcAft>
            </a:pPr>
            <a:r>
              <a:rPr sz="1050" b="1">
                <a:solidFill>
                  <a:srgbClr val="9AA6BC"/>
                </a:solidFill>
                <a:latin typeface="Menlo"/>
              </a:rPr>
              <a:t>ISP: </a:t>
            </a:r>
            <a:r>
              <a:rPr sz="1050" b="0">
                <a:solidFill>
                  <a:srgbClr val="E7ECF5"/>
                </a:solidFill>
                <a:latin typeface="Menlo"/>
              </a:rPr>
              <a:t>Thank you. Can you confirm the service address, please,</a:t>
            </a:r>
          </a:p>
          <a:p>
            <a:pPr algn="l">
              <a:spcAft>
                <a:spcPts val="500"/>
              </a:spcAft>
            </a:pPr>
            <a:r>
              <a:rPr sz="1050" b="1">
                <a:solidFill>
                  <a:srgbClr val="F0A83C"/>
                </a:solidFill>
                <a:latin typeface="Menlo"/>
              </a:rPr>
              <a:t>Agent: </a:t>
            </a:r>
            <a:r>
              <a:rPr sz="1050" b="0">
                <a:solidFill>
                  <a:srgbClr val="E7ECF5"/>
                </a:solidFill>
                <a:latin typeface="Menlo"/>
              </a:rPr>
              <a:t>The service address is two seven two seven Linden, Dallas seven five two three four.</a:t>
            </a:r>
          </a:p>
          <a:p>
            <a:pPr algn="l">
              <a:spcAft>
                <a:spcPts val="500"/>
              </a:spcAft>
            </a:pPr>
            <a:r>
              <a:rPr sz="1050" b="1">
                <a:solidFill>
                  <a:srgbClr val="9AA6BC"/>
                </a:solidFill>
                <a:latin typeface="Menlo"/>
              </a:rPr>
              <a:t>ISP: </a:t>
            </a:r>
            <a:r>
              <a:rPr sz="1050" b="0">
                <a:solidFill>
                  <a:srgbClr val="E7ECF5"/>
                </a:solidFill>
                <a:latin typeface="Menlo"/>
              </a:rPr>
              <a:t>Thank you for that information. All our representatives are currently helping other customers. You can keep holding, or we can call you back. Would you like to hold?</a:t>
            </a:r>
          </a:p>
          <a:p>
            <a:pPr algn="l">
              <a:spcAft>
                <a:spcPts val="500"/>
              </a:spcAft>
            </a:pPr>
            <a:r>
              <a:rPr sz="1050" b="1">
                <a:solidFill>
                  <a:srgbClr val="F0A83C"/>
                </a:solidFill>
                <a:latin typeface="Menlo"/>
              </a:rPr>
              <a:t>Agent: </a:t>
            </a:r>
            <a:r>
              <a:rPr sz="1050" b="0">
                <a:solidFill>
                  <a:srgbClr val="E7ECF5"/>
                </a:solidFill>
                <a:latin typeface="Menlo"/>
              </a:rPr>
              <a:t>I'll hold. Thank you.</a:t>
            </a:r>
          </a:p>
          <a:p>
            <a:pPr algn="l">
              <a:spcAft>
                <a:spcPts val="500"/>
              </a:spcAft>
            </a:pPr>
            <a:r>
              <a:rPr sz="1050" b="1">
                <a:solidFill>
                  <a:srgbClr val="9AA6BC"/>
                </a:solidFill>
                <a:latin typeface="Menlo"/>
              </a:rPr>
              <a:t>ISP: </a:t>
            </a:r>
            <a:r>
              <a:rPr sz="1050" b="0">
                <a:solidFill>
                  <a:srgbClr val="E7ECF5"/>
                </a:solidFill>
                <a:latin typeface="Menlo"/>
              </a:rPr>
              <a:t>Thank you for your patience. Please hold for a moment while I connect you to a representative. connecting. Hi. This is technical support. How can I help you today?</a:t>
            </a:r>
          </a:p>
          <a:p>
            <a:pPr algn="l">
              <a:spcAft>
                <a:spcPts val="500"/>
              </a:spcAft>
            </a:pPr>
            <a:r>
              <a:rPr sz="1050" b="1">
                <a:solidFill>
                  <a:srgbClr val="F0A83C"/>
                </a:solidFill>
                <a:latin typeface="Menlo"/>
              </a:rPr>
              <a:t>Agent: </a:t>
            </a:r>
            <a:r>
              <a:rPr sz="1050" b="0">
                <a:solidFill>
                  <a:srgbClr val="E7ECF5"/>
                </a:solidFill>
                <a:latin typeface="Menlo"/>
              </a:rPr>
              <a:t>Hi. This is John Doe calling on behalf of VivantCorp. I'm checking on an Internet outage at our location at two seven two seven Linden, Dallas seven five two three four. Can you provide me with the status of the outage?</a:t>
            </a:r>
          </a:p>
          <a:p>
            <a:pPr algn="l">
              <a:spcAft>
                <a:spcPts val="500"/>
              </a:spcAft>
            </a:pPr>
            <a:r>
              <a:rPr sz="1050" b="1">
                <a:solidFill>
                  <a:srgbClr val="9AA6BC"/>
                </a:solidFill>
                <a:latin typeface="Menlo"/>
              </a:rPr>
              <a:t>ISP: </a:t>
            </a:r>
            <a:r>
              <a:rPr sz="1050" b="0">
                <a:solidFill>
                  <a:srgbClr val="E7ECF5"/>
                </a:solidFill>
                <a:latin typeface="Menlo"/>
              </a:rPr>
              <a:t>Hi, John. Yes. There is currently an Internet outage in your area. Is there anything else you'd like to know about it?</a:t>
            </a:r>
          </a:p>
          <a:p>
            <a:pPr algn="l">
              <a:spcAft>
                <a:spcPts val="500"/>
              </a:spcAft>
            </a:pPr>
            <a:r>
              <a:rPr sz="1050" b="1">
                <a:solidFill>
                  <a:srgbClr val="F0A83C"/>
                </a:solidFill>
                <a:latin typeface="Menlo"/>
              </a:rPr>
              <a:t>Agent: </a:t>
            </a:r>
            <a:r>
              <a:rPr sz="1050" b="0">
                <a:solidFill>
                  <a:srgbClr val="E7ECF5"/>
                </a:solidFill>
                <a:latin typeface="Menlo"/>
              </a:rPr>
              <a:t>Yes. Could you please tell me the reason for the outage and the estimated time for service restoration?</a:t>
            </a:r>
          </a:p>
          <a:p>
            <a:pPr algn="l">
              <a:spcAft>
                <a:spcPts val="500"/>
              </a:spcAft>
            </a:pPr>
            <a:r>
              <a:rPr sz="1050" b="1">
                <a:solidFill>
                  <a:srgbClr val="9AA6BC"/>
                </a:solidFill>
                <a:latin typeface="Menlo"/>
              </a:rPr>
              <a:t>ISP: </a:t>
            </a:r>
            <a:r>
              <a:rPr sz="1050" b="0">
                <a:solidFill>
                  <a:srgbClr val="E7ECF5"/>
                </a:solidFill>
                <a:latin typeface="Menlo"/>
              </a:rPr>
              <a:t>The cause of the outage is a damaged fiber line. The estimated restoration time is eight PM today. Would you like any further assistance?</a:t>
            </a:r>
          </a:p>
          <a:p>
            <a:pPr algn="l">
              <a:spcAft>
                <a:spcPts val="500"/>
              </a:spcAft>
            </a:pPr>
            <a:r>
              <a:rPr sz="1050" b="1">
                <a:solidFill>
                  <a:srgbClr val="F0A83C"/>
                </a:solidFill>
                <a:latin typeface="Menlo"/>
              </a:rPr>
              <a:t>Agent: </a:t>
            </a:r>
            <a:r>
              <a:rPr sz="1050" b="0">
                <a:solidFill>
                  <a:srgbClr val="E7ECF5"/>
                </a:solidFill>
                <a:latin typeface="Menlo"/>
              </a:rPr>
              <a:t>Thank you for the information. Could you provide me with a reference or ticket number for this outage?</a:t>
            </a:r>
          </a:p>
          <a:p>
            <a:pPr algn="l">
              <a:spcAft>
                <a:spcPts val="500"/>
              </a:spcAft>
            </a:pPr>
            <a:r>
              <a:rPr sz="1050" b="1">
                <a:solidFill>
                  <a:srgbClr val="9AA6BC"/>
                </a:solidFill>
                <a:latin typeface="Menlo"/>
              </a:rPr>
              <a:t>ISP: </a:t>
            </a:r>
            <a:r>
              <a:rPr sz="1050" b="0">
                <a:solidFill>
                  <a:srgbClr val="E7ECF5"/>
                </a:solidFill>
                <a:latin typeface="Menlo"/>
              </a:rPr>
              <a:t>Certainly. The reference ticket number is five five four three two. Is there anything else I can assist you with today?</a:t>
            </a:r>
          </a:p>
          <a:p>
            <a:pPr algn="l">
              <a:spcAft>
                <a:spcPts val="500"/>
              </a:spcAft>
            </a:pPr>
            <a:r>
              <a:rPr sz="1050" b="1">
                <a:solidFill>
                  <a:srgbClr val="F0A83C"/>
                </a:solidFill>
                <a:latin typeface="Menlo"/>
              </a:rPr>
              <a:t>Agent: </a:t>
            </a:r>
            <a:r>
              <a:rPr sz="1050" b="0">
                <a:solidFill>
                  <a:srgbClr val="E7ECF5"/>
                </a:solidFill>
                <a:latin typeface="Menlo"/>
              </a:rPr>
              <a:t>No. That will be all. Thanks. That's all I needed. Goodbye.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TRUST</a:t>
            </a:r>
          </a:p>
          <a:p>
            <a:pPr algn="l">
              <a:spcAft>
                <a:spcPts val="800"/>
              </a:spcAft>
            </a:pPr>
            <a:r>
              <a:rPr sz="3200" b="1">
                <a:solidFill>
                  <a:srgbClr val="E7ECF5"/>
                </a:solidFill>
              </a:rPr>
              <a:t>The golden rule: never fabricate</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0607040" cy="4114800"/>
          </a:xfrm>
          <a:prstGeom prst="rect">
            <a:avLst/>
          </a:prstGeom>
          <a:noFill/>
        </p:spPr>
        <p:txBody>
          <a:bodyPr wrap="square">
            <a:spAutoFit/>
          </a:bodyPr>
          <a:lstStyle/>
          <a:p/>
          <a:p>
            <a:pPr algn="l">
              <a:spcAft>
                <a:spcPts val="1600"/>
              </a:spcAft>
            </a:pPr>
            <a:r>
              <a:rPr sz="2000" b="1">
                <a:solidFill>
                  <a:srgbClr val="F0A83C"/>
                </a:solidFill>
              </a:rPr>
              <a:t>•  </a:t>
            </a:r>
            <a:r>
              <a:rPr sz="2000" b="0">
                <a:solidFill>
                  <a:srgbClr val="E7ECF5"/>
                </a:solidFill>
              </a:rPr>
              <a:t>Claude extracts only what was actually said in the call.</a:t>
            </a:r>
          </a:p>
          <a:p>
            <a:pPr algn="l">
              <a:spcAft>
                <a:spcPts val="1600"/>
              </a:spcAft>
            </a:pPr>
            <a:r>
              <a:rPr sz="2000" b="1">
                <a:solidFill>
                  <a:srgbClr val="F0A83C"/>
                </a:solidFill>
              </a:rPr>
              <a:t>•  </a:t>
            </a:r>
            <a:r>
              <a:rPr sz="2000" b="0">
                <a:solidFill>
                  <a:srgbClr val="E7ECF5"/>
                </a:solidFill>
              </a:rPr>
              <a:t>If the ETA, reason, or ticket number was not given → it reports "not provided".</a:t>
            </a:r>
          </a:p>
          <a:p>
            <a:pPr algn="l">
              <a:spcAft>
                <a:spcPts val="1600"/>
              </a:spcAft>
            </a:pPr>
            <a:r>
              <a:rPr sz="2000" b="1">
                <a:solidFill>
                  <a:srgbClr val="F0A83C"/>
                </a:solidFill>
              </a:rPr>
              <a:t>•  </a:t>
            </a:r>
            <a:r>
              <a:rPr sz="2000" b="0">
                <a:solidFill>
                  <a:srgbClr val="E7ECF5"/>
                </a:solidFill>
              </a:rPr>
              <a:t>If the call is too unclear to judge → it flags "needs review" for a human.</a:t>
            </a:r>
          </a:p>
          <a:p>
            <a:pPr algn="l">
              <a:spcAft>
                <a:spcPts val="1600"/>
              </a:spcAft>
            </a:pPr>
            <a:r>
              <a:rPr sz="2000" b="1">
                <a:solidFill>
                  <a:srgbClr val="F0A83C"/>
                </a:solidFill>
              </a:rPr>
              <a:t>•  </a:t>
            </a:r>
            <a:r>
              <a:rPr sz="2000" b="0">
                <a:solidFill>
                  <a:srgbClr val="E7ECF5"/>
                </a:solidFill>
              </a:rPr>
              <a:t>It never invents an ETA or a ticket number to look complete.</a:t>
            </a:r>
          </a:p>
          <a:p>
            <a:pPr algn="l">
              <a:spcAft>
                <a:spcPts val="800"/>
              </a:spcAft>
            </a:pPr>
            <a:r>
              <a:rPr sz="2000" b="1">
                <a:solidFill>
                  <a:srgbClr val="F0A83C"/>
                </a:solidFill>
              </a:rPr>
              <a:t>The honesty IS the product</a:t>
            </a:r>
            <a:r>
              <a:rPr sz="2000" b="0">
                <a:solidFill>
                  <a:srgbClr val="9AA6BC"/>
                </a:solidFill>
              </a:rPr>
              <a:t> — a faithful, ticketable report an MSP can 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ENGINEERING RIGOR</a:t>
            </a:r>
          </a:p>
          <a:p>
            <a:pPr algn="l">
              <a:spcAft>
                <a:spcPts val="800"/>
              </a:spcAft>
            </a:pPr>
            <a:r>
              <a:rPr sz="3200" b="1">
                <a:solidFill>
                  <a:srgbClr val="E7ECF5"/>
                </a:solidFill>
              </a:rPr>
              <a:t>Stress-tested — bugs found &amp; fixed</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07040" cy="4389120"/>
          </a:xfrm>
          <a:prstGeom prst="rect">
            <a:avLst/>
          </a:prstGeom>
          <a:noFill/>
        </p:spPr>
        <p:txBody>
          <a:bodyPr wrap="square">
            <a:spAutoFit/>
          </a:bodyPr>
          <a:lstStyle/>
          <a:p/>
          <a:p>
            <a:pPr algn="l">
              <a:spcAft>
                <a:spcPts val="1400"/>
              </a:spcAft>
            </a:pPr>
            <a:r>
              <a:rPr sz="1800" b="1">
                <a:solidFill>
                  <a:srgbClr val="F0A83C"/>
                </a:solidFill>
              </a:rPr>
              <a:t>•  </a:t>
            </a:r>
            <a:r>
              <a:rPr sz="1800" b="0">
                <a:solidFill>
                  <a:srgbClr val="E7ECF5"/>
                </a:solidFill>
              </a:rPr>
              <a:t>Start-collision: two AIs greeting at once → one now waits.</a:t>
            </a:r>
          </a:p>
          <a:p>
            <a:pPr algn="l">
              <a:spcAft>
                <a:spcPts val="1400"/>
              </a:spcAft>
            </a:pPr>
            <a:r>
              <a:rPr sz="1800" b="1">
                <a:solidFill>
                  <a:srgbClr val="F0A83C"/>
                </a:solidFill>
              </a:rPr>
              <a:t>•  </a:t>
            </a:r>
            <a:r>
              <a:rPr sz="1800" b="0">
                <a:solidFill>
                  <a:srgbClr val="E7ECF5"/>
                </a:solidFill>
              </a:rPr>
              <a:t>Goodbye-loop: agent wouldn't hang up → fixed end-call phrases.</a:t>
            </a:r>
          </a:p>
          <a:p>
            <a:pPr algn="l">
              <a:spcAft>
                <a:spcPts val="1400"/>
              </a:spcAft>
            </a:pPr>
            <a:r>
              <a:rPr sz="1800" b="1">
                <a:solidFill>
                  <a:srgbClr val="F0A83C"/>
                </a:solidFill>
              </a:rPr>
              <a:t>•  </a:t>
            </a:r>
            <a:r>
              <a:rPr sz="1800" b="0">
                <a:solidFill>
                  <a:srgbClr val="E7ECF5"/>
                </a:solidFill>
              </a:rPr>
              <a:t>AI-to-AI turn-taking: tuned with LiveKit smart endpointing.</a:t>
            </a:r>
          </a:p>
          <a:p>
            <a:pPr algn="l">
              <a:spcAft>
                <a:spcPts val="1400"/>
              </a:spcAft>
            </a:pPr>
            <a:r>
              <a:rPr sz="1800" b="1">
                <a:solidFill>
                  <a:srgbClr val="F0A83C"/>
                </a:solidFill>
              </a:rPr>
              <a:t>•  </a:t>
            </a:r>
            <a:r>
              <a:rPr sz="1800" b="0">
                <a:solidFill>
                  <a:srgbClr val="E7ECF5"/>
                </a:solidFill>
              </a:rPr>
              <a:t>Graceful errors: clean message when a call can't start (not a crash).</a:t>
            </a:r>
          </a:p>
          <a:p>
            <a:pPr algn="l">
              <a:spcAft>
                <a:spcPts val="1400"/>
              </a:spcAft>
            </a:pPr>
            <a:r>
              <a:rPr sz="1800" b="1">
                <a:solidFill>
                  <a:srgbClr val="F0A83C"/>
                </a:solidFill>
              </a:rPr>
              <a:t>•  </a:t>
            </a:r>
            <a:r>
              <a:rPr sz="1800" b="0">
                <a:solidFill>
                  <a:srgbClr val="E7ECF5"/>
                </a:solidFill>
              </a:rPr>
              <a:t>Daily call limit on Vapi numbers → imported a Twilio number for outbound (no cap).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STRATEGIC</a:t>
            </a:r>
          </a:p>
          <a:p>
            <a:pPr algn="l">
              <a:spcAft>
                <a:spcPts val="800"/>
              </a:spcAft>
            </a:pPr>
            <a:r>
              <a:rPr sz="3200" b="1">
                <a:solidFill>
                  <a:srgbClr val="E7ECF5"/>
                </a:solidFill>
              </a:rPr>
              <a:t>Key insight: ISPs are becoming AI</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07040" cy="3840480"/>
          </a:xfrm>
          <a:prstGeom prst="rect">
            <a:avLst/>
          </a:prstGeom>
          <a:noFill/>
        </p:spPr>
        <p:txBody>
          <a:bodyPr wrap="square">
            <a:spAutoFit/>
          </a:bodyPr>
          <a:lstStyle/>
          <a:p>
            <a:pPr algn="l">
              <a:spcAft>
                <a:spcPts val="1600"/>
              </a:spcAft>
            </a:pPr>
            <a:r>
              <a:rPr sz="2200" b="0">
                <a:solidFill>
                  <a:srgbClr val="E7ECF5"/>
                </a:solidFill>
              </a:rPr>
              <a:t>AT&amp;T's real phone system is already a conversational AI.</a:t>
            </a:r>
          </a:p>
          <a:p>
            <a:pPr algn="l">
              <a:spcAft>
                <a:spcPts val="1600"/>
              </a:spcAft>
            </a:pPr>
            <a:r>
              <a:rPr sz="2200" b="0">
                <a:solidFill>
                  <a:srgbClr val="9AA6BC"/>
                </a:solidFill>
              </a:rPr>
              <a:t>So calling an ISP is increasingly </a:t>
            </a:r>
            <a:r>
              <a:rPr sz="2200" b="1">
                <a:solidFill>
                  <a:srgbClr val="F0A83C"/>
                </a:solidFill>
              </a:rPr>
              <a:t>our AI talking to their AI</a:t>
            </a:r>
            <a:r>
              <a:rPr sz="2200" b="0">
                <a:solidFill>
                  <a:srgbClr val="9AA6BC"/>
                </a:solidFill>
              </a:rPr>
              <a:t>.</a:t>
            </a:r>
          </a:p>
          <a:p>
            <a:pPr algn="l">
              <a:spcAft>
                <a:spcPts val="800"/>
              </a:spcAft>
            </a:pPr>
            <a:r>
              <a:rPr sz="2000" b="0">
                <a:solidFill>
                  <a:srgbClr val="9AA6BC"/>
                </a:solidFill>
              </a:rPr>
              <a:t>AI-to-AI turn-taking is a real, ongoing challenge — and the reason we test against realistic conversational bots, not just menus.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640080" y="457200"/>
            <a:ext cx="10972800" cy="1097280"/>
          </a:xfrm>
          <a:prstGeom prst="rect">
            <a:avLst/>
          </a:prstGeom>
          <a:noFill/>
        </p:spPr>
        <p:txBody>
          <a:bodyPr wrap="square">
            <a:spAutoFit/>
          </a:bodyPr>
          <a:lstStyle/>
          <a:p>
            <a:pPr algn="l">
              <a:spcAft>
                <a:spcPts val="200"/>
              </a:spcAft>
            </a:pPr>
            <a:r>
              <a:rPr sz="1300" b="1">
                <a:solidFill>
                  <a:srgbClr val="F0A83C"/>
                </a:solidFill>
              </a:rPr>
              <a:t>ROADMAP</a:t>
            </a:r>
          </a:p>
          <a:p>
            <a:pPr algn="l">
              <a:spcAft>
                <a:spcPts val="800"/>
              </a:spcAft>
            </a:pPr>
            <a:r>
              <a:rPr sz="3200" b="1">
                <a:solidFill>
                  <a:srgbClr val="E7ECF5"/>
                </a:solidFill>
              </a:rPr>
              <a:t>What's next</a:t>
            </a:r>
          </a:p>
        </p:txBody>
      </p:sp>
      <p:sp>
        <p:nvSpPr>
          <p:cNvPr id="3" name="Rectangle 2"/>
          <p:cNvSpPr/>
          <p:nvPr/>
        </p:nvSpPr>
        <p:spPr>
          <a:xfrm>
            <a:off x="658368" y="1508760"/>
            <a:ext cx="1005840" cy="45720"/>
          </a:xfrm>
          <a:prstGeom prst="rect">
            <a:avLst/>
          </a:prstGeom>
          <a:solidFill>
            <a:srgbClr val="F0A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07040" cy="4389120"/>
          </a:xfrm>
          <a:prstGeom prst="rect">
            <a:avLst/>
          </a:prstGeom>
          <a:noFill/>
        </p:spPr>
        <p:txBody>
          <a:bodyPr wrap="square">
            <a:spAutoFit/>
          </a:bodyPr>
          <a:lstStyle/>
          <a:p/>
          <a:p>
            <a:pPr algn="l">
              <a:spcAft>
                <a:spcPts val="1300"/>
              </a:spcAft>
            </a:pPr>
            <a:r>
              <a:rPr sz="1800" b="1">
                <a:solidFill>
                  <a:srgbClr val="F0A83C"/>
                </a:solidFill>
              </a:rPr>
              <a:t>•  </a:t>
            </a:r>
            <a:r>
              <a:rPr sz="1800" b="0">
                <a:solidFill>
                  <a:srgbClr val="E7ECF5"/>
                </a:solidFill>
              </a:rPr>
              <a:t>Compliance for real-ISP calls (AI disclosure, recording consent).</a:t>
            </a:r>
          </a:p>
          <a:p>
            <a:pPr algn="l">
              <a:spcAft>
                <a:spcPts val="1300"/>
              </a:spcAft>
            </a:pPr>
            <a:r>
              <a:rPr sz="1800" b="1">
                <a:solidFill>
                  <a:srgbClr val="F0A83C"/>
                </a:solidFill>
              </a:rPr>
              <a:t>•  </a:t>
            </a:r>
            <a:r>
              <a:rPr sz="1800" b="0">
                <a:solidFill>
                  <a:srgbClr val="E7ECF5"/>
                </a:solidFill>
              </a:rPr>
              <a:t>Branded caller ID — remove the "Spam Likely" label.</a:t>
            </a:r>
          </a:p>
          <a:p>
            <a:pPr algn="l">
              <a:spcAft>
                <a:spcPts val="1300"/>
              </a:spcAft>
            </a:pPr>
            <a:r>
              <a:rPr sz="1800" b="1">
                <a:solidFill>
                  <a:srgbClr val="F0A83C"/>
                </a:solidFill>
              </a:rPr>
              <a:t>•  </a:t>
            </a:r>
            <a:r>
              <a:rPr sz="1800" b="0">
                <a:solidFill>
                  <a:srgbClr val="E7ECF5"/>
                </a:solidFill>
              </a:rPr>
              <a:t>Per-ISP provider routing (use the best voice platform per ISP).</a:t>
            </a:r>
          </a:p>
          <a:p>
            <a:pPr algn="l">
              <a:spcAft>
                <a:spcPts val="1300"/>
              </a:spcAft>
            </a:pPr>
            <a:r>
              <a:rPr sz="1800" b="1">
                <a:solidFill>
                  <a:srgbClr val="F0A83C"/>
                </a:solidFill>
              </a:rPr>
              <a:t>•  </a:t>
            </a:r>
            <a:r>
              <a:rPr sz="1800" b="0">
                <a:solidFill>
                  <a:srgbClr val="E7ECF5"/>
                </a:solidFill>
              </a:rPr>
              <a:t>LLM-as-a-judge — auto-score each call's quality.</a:t>
            </a:r>
          </a:p>
          <a:p>
            <a:pPr algn="l">
              <a:spcAft>
                <a:spcPts val="1300"/>
              </a:spcAft>
            </a:pPr>
            <a:r>
              <a:rPr sz="1800" b="1">
                <a:solidFill>
                  <a:srgbClr val="F0A83C"/>
                </a:solidFill>
              </a:rPr>
              <a:t>•  </a:t>
            </a:r>
            <a:r>
              <a:rPr sz="1800" b="0">
                <a:solidFill>
                  <a:srgbClr val="E7ECF5"/>
                </a:solidFill>
              </a:rPr>
              <a:t>Bulk multi-site sweeps; report sharing / export.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018"/>
        </a:solidFill>
        <a:effectLst/>
      </p:bgPr>
    </p:bg>
    <p:spTree>
      <p:nvGrpSpPr>
        <p:cNvPr id="1" name=""/>
        <p:cNvGrpSpPr/>
        <p:nvPr/>
      </p:nvGrpSpPr>
      <p:grpSpPr/>
      <p:sp>
        <p:nvSpPr>
          <p:cNvPr id="2" name="TextBox 1"/>
          <p:cNvSpPr txBox="1"/>
          <p:nvPr/>
        </p:nvSpPr>
        <p:spPr>
          <a:xfrm>
            <a:off x="822960" y="2377440"/>
            <a:ext cx="10515600" cy="2377440"/>
          </a:xfrm>
          <a:prstGeom prst="rect">
            <a:avLst/>
          </a:prstGeom>
          <a:noFill/>
        </p:spPr>
        <p:txBody>
          <a:bodyPr wrap="square">
            <a:spAutoFit/>
          </a:bodyPr>
          <a:lstStyle/>
          <a:p>
            <a:pPr algn="l">
              <a:spcAft>
                <a:spcPts val="800"/>
              </a:spcAft>
            </a:pPr>
            <a:r>
              <a:rPr sz="1600" b="1">
                <a:solidFill>
                  <a:srgbClr val="F0A83C"/>
                </a:solidFill>
              </a:rPr>
              <a:t>Status</a:t>
            </a:r>
          </a:p>
          <a:p>
            <a:pPr algn="l">
              <a:spcAft>
                <a:spcPts val="1800"/>
              </a:spcAft>
            </a:pPr>
            <a:r>
              <a:rPr sz="3000" b="1">
                <a:solidFill>
                  <a:srgbClr val="E7ECF5"/>
                </a:solidFill>
              </a:rPr>
              <a:t>Core POC complete, tested, and proven on every ISP call type.</a:t>
            </a:r>
          </a:p>
          <a:p>
            <a:pPr algn="l">
              <a:spcAft>
                <a:spcPts val="800"/>
              </a:spcAft>
            </a:pPr>
            <a:r>
              <a:rPr sz="1800" b="0">
                <a:solidFill>
                  <a:srgbClr val="9AA6BC"/>
                </a:solidFill>
              </a:rPr>
              <a:t>50 automated tests passing  ·  code on GitHub  ·  real live-call demos available on request.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